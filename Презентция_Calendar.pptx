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5"/>
    <p:sldMasterId id="2147483685" r:id="rId6"/>
    <p:sldMasterId id="2147483688" r:id="rId7"/>
  </p:sldMasterIdLst>
  <p:notesMasterIdLst>
    <p:notesMasterId r:id="rId20"/>
  </p:notesMasterIdLst>
  <p:sldIdLst>
    <p:sldId id="261" r:id="rId8"/>
    <p:sldId id="272" r:id="rId9"/>
    <p:sldId id="268" r:id="rId10"/>
    <p:sldId id="277" r:id="rId11"/>
    <p:sldId id="301" r:id="rId12"/>
    <p:sldId id="305" r:id="rId13"/>
    <p:sldId id="296" r:id="rId14"/>
    <p:sldId id="292" r:id="rId15"/>
    <p:sldId id="304" r:id="rId16"/>
    <p:sldId id="303" r:id="rId17"/>
    <p:sldId id="290" r:id="rId18"/>
    <p:sldId id="289" r:id="rId19"/>
  </p:sldIdLst>
  <p:sldSz cx="9906000" cy="6858000" type="A4"/>
  <p:notesSz cx="6858000" cy="9144000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pos="557" userDrawn="1">
          <p15:clr>
            <a:srgbClr val="A4A3A4"/>
          </p15:clr>
        </p15:guide>
        <p15:guide id="3" orient="horz" pos="3884" userDrawn="1">
          <p15:clr>
            <a:srgbClr val="A4A3A4"/>
          </p15:clr>
        </p15:guide>
        <p15:guide id="4" pos="581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урзагалеев Тагир Муратович" initials="МТМ" lastIdx="47" clrIdx="0">
    <p:extLst>
      <p:ext uri="{19B8F6BF-5375-455C-9EA6-DF929625EA0E}">
        <p15:presenceInfo xmlns:p15="http://schemas.microsoft.com/office/powerpoint/2012/main" userId="Мурзагалеев Тагир Муратович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9C05"/>
    <a:srgbClr val="DE9605"/>
    <a:srgbClr val="EDA005"/>
    <a:srgbClr val="DD9505"/>
    <a:srgbClr val="323232"/>
    <a:srgbClr val="FA9D10"/>
    <a:srgbClr val="F6D106"/>
    <a:srgbClr val="DADEE5"/>
    <a:srgbClr val="6B6B6B"/>
    <a:srgbClr val="F07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5" autoAdjust="0"/>
    <p:restoredTop sz="94302" autoAdjust="0"/>
  </p:normalViewPr>
  <p:slideViewPr>
    <p:cSldViewPr snapToGrid="0" showGuides="1">
      <p:cViewPr varScale="1">
        <p:scale>
          <a:sx n="115" d="100"/>
          <a:sy n="115" d="100"/>
        </p:scale>
        <p:origin x="1080" y="84"/>
      </p:cViewPr>
      <p:guideLst>
        <p:guide orient="horz" pos="663"/>
        <p:guide pos="557"/>
        <p:guide orient="horz" pos="3884"/>
        <p:guide pos="58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6-27T15:57:23" idx="39">
    <p:pos x="3545" y="2991"/>
    <p:text>также учтены ресурсы необходимые для подготовки документации к актированию</p:text>
    <p:extLst>
      <p:ext uri="{C676402C-5697-4E1C-873F-D02D1690AC5C}">
        <p15:threadingInfo xmlns:p15="http://schemas.microsoft.com/office/powerpoint/2012/main" timeZoneBias="-4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CFCB7-7B7B-408C-87B3-D8D47B570CF4}" type="datetimeFigureOut">
              <a:rPr lang="ru-RU" smtClean="0"/>
              <a:t>20.08.2024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5E6C0-6FC6-445E-807C-83EC567112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9190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5E6C0-6FC6-445E-807C-83EC5671121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4434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После получения задания на проектирование необходимо подготовить календарный план работ, однако не всегда можно корректно распланировать сроки выполнения каждого процесса, а также оценить необходимое количество ресурсов, которые потребуются для проектирования объекта, для качественного планирования сроков проектирования необходим соответствующий опыт и квалификация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5E6C0-6FC6-445E-807C-83EC5671121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9755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7800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Нашей </a:t>
            </a:r>
            <a:r>
              <a:rPr lang="ru-RU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целью</a:t>
            </a:r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стало создание функционального модуля, который позволит добывающим обществам Компании систематизировать подачу заявок на земельный отвод, унифицировать формат заявки и обеспечить прозрачность процесса рассмотрения таких заявок. </a:t>
            </a:r>
          </a:p>
          <a:p>
            <a:pPr marL="177800">
              <a:lnSpc>
                <a:spcPct val="150000"/>
              </a:lnSpc>
              <a:spcBef>
                <a:spcPts val="600"/>
              </a:spcBef>
              <a:buSzPct val="80000"/>
            </a:pPr>
            <a:endParaRPr lang="ru-RU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7800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Для достижения этой цели мы ставим следующие </a:t>
            </a:r>
            <a:r>
              <a:rPr lang="ru-RU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задачи</a:t>
            </a:r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55600" indent="-177800">
              <a:lnSpc>
                <a:spcPct val="15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§"/>
            </a:pPr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Разработать структуру и функциональные возможности для работы с заявками на земельный отвод.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55600" indent="-177800">
              <a:lnSpc>
                <a:spcPct val="15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§"/>
            </a:pPr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Создать интерфейс пользователя, позволяющий удобно заполнять и отправлять заявки.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55600" indent="-177800">
              <a:lnSpc>
                <a:spcPct val="15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§"/>
            </a:pPr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Обеспечить интеграцию с другими модулями и системами, необходимыми для успешного выполнения процесса землеустройства.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55600" indent="-177800">
              <a:lnSpc>
                <a:spcPct val="15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§"/>
            </a:pPr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Протестировать модуль на соответствие требованиям и исправить обнаруженные ошибки.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55600" indent="-177800">
              <a:lnSpc>
                <a:spcPct val="15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§"/>
            </a:pPr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Обеспечить документацию и обучение пользователей по использованию разрабатываемой функциональности.</a:t>
            </a:r>
          </a:p>
          <a:p>
            <a:endParaRPr lang="en-US" dirty="0"/>
          </a:p>
          <a:p>
            <a:pPr marL="177800">
              <a:spcBef>
                <a:spcPts val="600"/>
              </a:spcBef>
              <a:buSzPct val="80000"/>
            </a:pP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Этап 1: Анализ и планирование (до 31 октября)</a:t>
            </a:r>
          </a:p>
          <a:p>
            <a:pPr marL="355600" indent="-177800">
              <a:spcBef>
                <a:spcPts val="600"/>
              </a:spcBef>
              <a:buSzPct val="80000"/>
              <a:buFont typeface="Wingdings" panose="05000000000000000000" pitchFamily="2" charset="2"/>
              <a:buChar char="§"/>
            </a:pPr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Провести анализ существующих бизнес-процессов и проблем в добывающих обществах компании</a:t>
            </a:r>
          </a:p>
          <a:p>
            <a:pPr marL="355600" indent="-177800">
              <a:spcBef>
                <a:spcPts val="600"/>
              </a:spcBef>
              <a:buSzPct val="80000"/>
              <a:buFont typeface="Wingdings" panose="05000000000000000000" pitchFamily="2" charset="2"/>
              <a:buChar char="§"/>
            </a:pPr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Определить требования и функциональные возможности модуля для работы с заявками на земельный отвод</a:t>
            </a:r>
          </a:p>
          <a:p>
            <a:pPr marL="355600" indent="-177800">
              <a:spcBef>
                <a:spcPts val="600"/>
              </a:spcBef>
              <a:buSzPct val="80000"/>
              <a:buFont typeface="Wingdings" panose="05000000000000000000" pitchFamily="2" charset="2"/>
              <a:buChar char="§"/>
            </a:pPr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Создать график работ и определить сроки выполнения каждого этапа</a:t>
            </a:r>
          </a:p>
          <a:p>
            <a:pPr marL="177800">
              <a:spcBef>
                <a:spcPts val="600"/>
              </a:spcBef>
              <a:buSzPct val="80000"/>
            </a:pPr>
            <a:endParaRPr lang="ru-RU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7800">
              <a:spcBef>
                <a:spcPts val="600"/>
              </a:spcBef>
              <a:buSzPct val="80000"/>
            </a:pP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Этап 2: Разработка и тестирование (до 31 декабря)</a:t>
            </a:r>
          </a:p>
          <a:p>
            <a:pPr marL="355600" indent="-177800">
              <a:spcBef>
                <a:spcPts val="600"/>
              </a:spcBef>
              <a:buSzPct val="80000"/>
              <a:buFont typeface="Wingdings" panose="05000000000000000000" pitchFamily="2" charset="2"/>
              <a:buChar char="§"/>
            </a:pPr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Разработать структуру модуля и функциональные возможности</a:t>
            </a:r>
          </a:p>
          <a:p>
            <a:pPr marL="355600" indent="-177800">
              <a:spcBef>
                <a:spcPts val="600"/>
              </a:spcBef>
              <a:buSzPct val="80000"/>
              <a:buFont typeface="Wingdings" panose="05000000000000000000" pitchFamily="2" charset="2"/>
              <a:buChar char="§"/>
            </a:pPr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Создать интерфейс пользователя для удобного заполнения и отправки заявок</a:t>
            </a:r>
          </a:p>
          <a:p>
            <a:pPr marL="355600" indent="-177800">
              <a:spcBef>
                <a:spcPts val="600"/>
              </a:spcBef>
              <a:buSzPct val="80000"/>
              <a:buFont typeface="Wingdings" panose="05000000000000000000" pitchFamily="2" charset="2"/>
              <a:buChar char="§"/>
            </a:pPr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Обеспечить интеграцию модуля с другими системами и модулями для успешного выполнения процесса землеустройства</a:t>
            </a:r>
          </a:p>
          <a:p>
            <a:pPr marL="355600" indent="-177800">
              <a:spcBef>
                <a:spcPts val="600"/>
              </a:spcBef>
              <a:buSzPct val="80000"/>
              <a:buFont typeface="Wingdings" panose="05000000000000000000" pitchFamily="2" charset="2"/>
              <a:buChar char="§"/>
            </a:pPr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Провести тестирование модуля на соответствие требованиям и исправить обнаруженные ошибки</a:t>
            </a:r>
          </a:p>
          <a:p>
            <a:pPr marL="177800">
              <a:spcBef>
                <a:spcPts val="600"/>
              </a:spcBef>
              <a:buSzPct val="80000"/>
            </a:pPr>
            <a:endParaRPr lang="ru-RU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7800">
              <a:spcBef>
                <a:spcPts val="600"/>
              </a:spcBef>
              <a:buSzPct val="80000"/>
            </a:pP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Этап 3: Документация и обучение (до 31 января)</a:t>
            </a:r>
          </a:p>
          <a:p>
            <a:pPr marL="355600" indent="-177800">
              <a:spcBef>
                <a:spcPts val="600"/>
              </a:spcBef>
              <a:buSzPct val="80000"/>
              <a:buFont typeface="Wingdings" panose="05000000000000000000" pitchFamily="2" charset="2"/>
              <a:buChar char="§"/>
            </a:pPr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Подготовить документацию по использованию модуля</a:t>
            </a:r>
          </a:p>
          <a:p>
            <a:pPr marL="355600" indent="-177800">
              <a:spcBef>
                <a:spcPts val="600"/>
              </a:spcBef>
              <a:buSzPct val="80000"/>
              <a:buFont typeface="Wingdings" panose="05000000000000000000" pitchFamily="2" charset="2"/>
              <a:buChar char="§"/>
            </a:pPr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Провести обучение пользователей по работе с модулем</a:t>
            </a:r>
          </a:p>
          <a:p>
            <a:endParaRPr lang="en-US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5E6C0-6FC6-445E-807C-83EC5671121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02092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5E6C0-6FC6-445E-807C-83EC5671121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3908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66" r="51494" b="22212"/>
          <a:stretch/>
        </p:blipFill>
        <p:spPr>
          <a:xfrm>
            <a:off x="2348976" y="0"/>
            <a:ext cx="7557025" cy="68580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2390" y="847976"/>
            <a:ext cx="1527917" cy="126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868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4238" y="263684"/>
            <a:ext cx="9021764" cy="566042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5728" y="421782"/>
            <a:ext cx="762608" cy="630733"/>
          </a:xfrm>
          <a:prstGeom prst="rect">
            <a:avLst/>
          </a:prstGeom>
        </p:spPr>
      </p:pic>
      <p:sp>
        <p:nvSpPr>
          <p:cNvPr id="6" name="Прямоугольник 5"/>
          <p:cNvSpPr/>
          <p:nvPr userDrawn="1"/>
        </p:nvSpPr>
        <p:spPr>
          <a:xfrm>
            <a:off x="6408650" y="5715476"/>
            <a:ext cx="343067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049027BB-24C5-40F9-AFF5-A74269A98B11}" type="slidenum">
              <a:rPr lang="ru-RU" sz="9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‹#›</a:t>
            </a:fld>
            <a:endParaRPr lang="ru-RU" sz="894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72434" y="535256"/>
            <a:ext cx="7399700" cy="687386"/>
          </a:xfrm>
        </p:spPr>
        <p:txBody>
          <a:bodyPr>
            <a:normAutofit/>
          </a:bodyPr>
          <a:lstStyle>
            <a:lvl1pPr>
              <a:defRPr sz="1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24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027BB-24C5-40F9-AFF5-A74269A98B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32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80" y="1709742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80" y="4589467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027BB-24C5-40F9-AFF5-A74269A98B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2241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027BB-24C5-40F9-AFF5-A74269A98B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778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9" y="365129"/>
            <a:ext cx="8543925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30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30" y="2505075"/>
            <a:ext cx="4190702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027BB-24C5-40F9-AFF5-A74269A98B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9081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027BB-24C5-40F9-AFF5-A74269A98B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2065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027BB-24C5-40F9-AFF5-A74269A98B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2174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9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1" y="987429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9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4" indent="0">
              <a:buNone/>
              <a:defRPr sz="1000"/>
            </a:lvl4pPr>
            <a:lvl5pPr marL="1828846" indent="0">
              <a:buNone/>
              <a:defRPr sz="1000"/>
            </a:lvl5pPr>
            <a:lvl6pPr marL="2286057" indent="0">
              <a:buNone/>
              <a:defRPr sz="1000"/>
            </a:lvl6pPr>
            <a:lvl7pPr marL="2743269" indent="0">
              <a:buNone/>
              <a:defRPr sz="1000"/>
            </a:lvl7pPr>
            <a:lvl8pPr marL="3200480" indent="0">
              <a:buNone/>
              <a:defRPr sz="1000"/>
            </a:lvl8pPr>
            <a:lvl9pPr marL="3657691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027BB-24C5-40F9-AFF5-A74269A98B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7378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9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1" y="987429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9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4" indent="0">
              <a:buNone/>
              <a:defRPr sz="1000"/>
            </a:lvl4pPr>
            <a:lvl5pPr marL="1828846" indent="0">
              <a:buNone/>
              <a:defRPr sz="1000"/>
            </a:lvl5pPr>
            <a:lvl6pPr marL="2286057" indent="0">
              <a:buNone/>
              <a:defRPr sz="1000"/>
            </a:lvl6pPr>
            <a:lvl7pPr marL="2743269" indent="0">
              <a:buNone/>
              <a:defRPr sz="1000"/>
            </a:lvl7pPr>
            <a:lvl8pPr marL="3200480" indent="0">
              <a:buNone/>
              <a:defRPr sz="1000"/>
            </a:lvl8pPr>
            <a:lvl9pPr marL="3657691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027BB-24C5-40F9-AFF5-A74269A98B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275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027BB-24C5-40F9-AFF5-A74269A98B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72868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027BB-24C5-40F9-AFF5-A74269A98B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95884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sn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BD1E7D1-533E-4378-BE09-2936213F9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2311" y="368301"/>
            <a:ext cx="822200" cy="33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3085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sn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BD1E7D1-533E-4378-BE09-2936213F9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2311" y="368301"/>
            <a:ext cx="822200" cy="33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5424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A6629-F0A2-4FBF-A58B-1575E812BD74}" type="datetime1">
              <a:rPr lang="ru-RU" smtClean="0"/>
              <a:t>20.08.2024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0378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9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4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4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4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027BB-24C5-40F9-AFF5-A74269A98B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254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sldNum="0" hdr="0" ftr="0" dt="0"/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4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52B5B2D2-F040-40CB-9916-8435755AC021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rot="10800000" flipV="1">
            <a:off x="2689" y="6318001"/>
            <a:ext cx="438750" cy="540000"/>
          </a:xfrm>
          <a:prstGeom prst="rect">
            <a:avLst/>
          </a:prstGeom>
          <a:solidFill>
            <a:srgbClr val="FAD200"/>
          </a:solidFill>
          <a:ln w="9525" algn="ctr">
            <a:noFill/>
            <a:miter lim="800000"/>
            <a:headEnd/>
            <a:tailEnd/>
          </a:ln>
        </p:spPr>
        <p:txBody>
          <a:bodyPr wrap="none" lIns="79396" tIns="39699" rIns="79396" bIns="39699" anchor="ctr"/>
          <a:lstStyle/>
          <a:p>
            <a:endParaRPr lang="ru-RU" sz="1463" dirty="0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9BBD338F-8E09-4F68-B7E9-C207A2FDEA56}"/>
              </a:ext>
            </a:extLst>
          </p:cNvPr>
          <p:cNvSpPr txBox="1">
            <a:spLocks/>
          </p:cNvSpPr>
          <p:nvPr userDrawn="1"/>
        </p:nvSpPr>
        <p:spPr>
          <a:xfrm>
            <a:off x="29699" y="6420187"/>
            <a:ext cx="375500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ctr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10A0DD-03E8-418E-9CCE-E0D41FE630AA}" type="slidenum">
              <a:rPr lang="ru-RU" sz="1138" smtClean="0">
                <a:solidFill>
                  <a:prstClr val="white"/>
                </a:solidFill>
              </a:rPr>
              <a:pPr/>
              <a:t>‹#›</a:t>
            </a:fld>
            <a:endParaRPr lang="ru-RU" sz="1138" dirty="0">
              <a:solidFill>
                <a:prstClr val="white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7B25DC2-89E6-4DD4-ADB1-08EC4727B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2311" y="368301"/>
            <a:ext cx="822200" cy="33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73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52B5B2D2-F040-40CB-9916-8435755AC021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rot="10800000" flipV="1">
            <a:off x="2689" y="6318001"/>
            <a:ext cx="438750" cy="540000"/>
          </a:xfrm>
          <a:prstGeom prst="rect">
            <a:avLst/>
          </a:prstGeom>
          <a:solidFill>
            <a:srgbClr val="FAD200"/>
          </a:solidFill>
          <a:ln w="9525" algn="ctr">
            <a:noFill/>
            <a:miter lim="800000"/>
            <a:headEnd/>
            <a:tailEnd/>
          </a:ln>
        </p:spPr>
        <p:txBody>
          <a:bodyPr wrap="none" lIns="79396" tIns="39699" rIns="79396" bIns="39699" anchor="ctr"/>
          <a:lstStyle/>
          <a:p>
            <a:endParaRPr lang="ru-RU" sz="1463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9BBD338F-8E09-4F68-B7E9-C207A2FDEA56}"/>
              </a:ext>
            </a:extLst>
          </p:cNvPr>
          <p:cNvSpPr txBox="1">
            <a:spLocks/>
          </p:cNvSpPr>
          <p:nvPr userDrawn="1"/>
        </p:nvSpPr>
        <p:spPr>
          <a:xfrm>
            <a:off x="29699" y="6420187"/>
            <a:ext cx="375500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ctr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10A0DD-03E8-418E-9CCE-E0D41FE630AA}" type="slidenum">
              <a:rPr lang="ru-RU" sz="1138" smtClean="0"/>
              <a:pPr/>
              <a:t>‹#›</a:t>
            </a:fld>
            <a:endParaRPr lang="ru-RU" sz="1138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7B25DC2-89E6-4DD4-ADB1-08EC4727B5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2311" y="368301"/>
            <a:ext cx="822200" cy="33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246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image" Target="../media/image14.emf"/><Relationship Id="rId7" Type="http://schemas.openxmlformats.org/officeDocument/2006/relationships/image" Target="../media/image18.emf"/><Relationship Id="rId12" Type="http://schemas.openxmlformats.org/officeDocument/2006/relationships/image" Target="../media/image23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11" Type="http://schemas.openxmlformats.org/officeDocument/2006/relationships/image" Target="../media/image22.emf"/><Relationship Id="rId5" Type="http://schemas.openxmlformats.org/officeDocument/2006/relationships/image" Target="../media/image16.emf"/><Relationship Id="rId10" Type="http://schemas.openxmlformats.org/officeDocument/2006/relationships/image" Target="../media/image21.emf"/><Relationship Id="rId4" Type="http://schemas.openxmlformats.org/officeDocument/2006/relationships/image" Target="../media/image15.emf"/><Relationship Id="rId9" Type="http://schemas.openxmlformats.org/officeDocument/2006/relationships/image" Target="../media/image20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12" Type="http://schemas.openxmlformats.org/officeDocument/2006/relationships/image" Target="../media/image33.pn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emf"/><Relationship Id="rId11" Type="http://schemas.microsoft.com/office/2007/relationships/hdphoto" Target="../media/hdphoto1.wdp"/><Relationship Id="rId5" Type="http://schemas.openxmlformats.org/officeDocument/2006/relationships/image" Target="../media/image27.emf"/><Relationship Id="rId10" Type="http://schemas.openxmlformats.org/officeDocument/2006/relationships/image" Target="../media/image32.png"/><Relationship Id="rId4" Type="http://schemas.openxmlformats.org/officeDocument/2006/relationships/image" Target="../media/image26.emf"/><Relationship Id="rId9" Type="http://schemas.openxmlformats.org/officeDocument/2006/relationships/image" Target="../media/image31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66" r="51494" b="22212"/>
          <a:stretch/>
        </p:blipFill>
        <p:spPr>
          <a:xfrm>
            <a:off x="2348976" y="0"/>
            <a:ext cx="7557025" cy="685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4619" y="2456286"/>
            <a:ext cx="908312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ru-RU" sz="2600" b="1" kern="0" dirty="0" smtClean="0">
                <a:latin typeface="Lato"/>
                <a:ea typeface="Lato"/>
                <a:cs typeface="Lato"/>
                <a:rtl val="0"/>
              </a:rPr>
              <a:t>"</a:t>
            </a:r>
            <a:r>
              <a:rPr lang="ru-RU" sz="2600" b="1" kern="0" dirty="0">
                <a:latin typeface="Lato"/>
                <a:ea typeface="Lato"/>
                <a:cs typeface="Lato"/>
                <a:rtl val="0"/>
              </a:rPr>
              <a:t>Автоматизация планирования сроков реализации проектов</a:t>
            </a:r>
            <a:r>
              <a:rPr lang="en-US" sz="2600" b="1" kern="0" dirty="0">
                <a:latin typeface="Lato"/>
                <a:ea typeface="Lato"/>
                <a:cs typeface="Lato"/>
                <a:rtl val="0"/>
              </a:rPr>
              <a:t> </a:t>
            </a:r>
            <a:r>
              <a:rPr lang="ru-RU" sz="2600" b="1" kern="0" dirty="0">
                <a:latin typeface="Lato"/>
                <a:ea typeface="Lato"/>
                <a:cs typeface="Lato"/>
                <a:rtl val="0"/>
              </a:rPr>
              <a:t>ПИР в соответствии с техническим заданием на проектирование объекта"</a:t>
            </a:r>
            <a:r>
              <a:rPr lang="en-US" sz="2400" b="1" kern="0" dirty="0">
                <a:solidFill>
                  <a:srgbClr val="464646"/>
                </a:solidFill>
                <a:latin typeface="Lato"/>
                <a:ea typeface="Lato"/>
                <a:cs typeface="Lato"/>
                <a:rtl val="0"/>
              </a:rPr>
              <a:t/>
            </a:r>
            <a:br>
              <a:rPr lang="en-US" sz="2400" b="1" kern="0" dirty="0">
                <a:solidFill>
                  <a:srgbClr val="464646"/>
                </a:solidFill>
                <a:latin typeface="Lato"/>
                <a:ea typeface="Lato"/>
                <a:cs typeface="Lato"/>
                <a:rtl val="0"/>
              </a:rPr>
            </a:br>
            <a:endParaRPr lang="en-US" sz="2400" b="1" kern="0" dirty="0">
              <a:solidFill>
                <a:srgbClr val="464646"/>
              </a:solidFill>
              <a:latin typeface="Lato"/>
              <a:ea typeface="Lato"/>
              <a:cs typeface="Lato"/>
              <a:rtl val="0"/>
            </a:endParaRPr>
          </a:p>
          <a:p>
            <a:endParaRPr lang="ru-RU" sz="2400" b="1" kern="0" dirty="0" smtClean="0">
              <a:solidFill>
                <a:srgbClr val="464646"/>
              </a:solidFill>
              <a:latin typeface="Lato"/>
              <a:ea typeface="Lato"/>
              <a:cs typeface="Lato"/>
              <a:rtl val="0"/>
            </a:endParaRPr>
          </a:p>
          <a:p>
            <a:pPr algn="r"/>
            <a:endParaRPr lang="ru-RU" sz="2400" b="1" kern="0" dirty="0">
              <a:solidFill>
                <a:srgbClr val="464646"/>
              </a:solidFill>
              <a:latin typeface="Lato"/>
              <a:ea typeface="Lato"/>
              <a:cs typeface="Lato"/>
              <a:rtl val="0"/>
            </a:endParaRPr>
          </a:p>
          <a:p>
            <a:pPr algn="r"/>
            <a:r>
              <a:rPr lang="ru-RU" sz="1600" kern="0" dirty="0" smtClean="0">
                <a:latin typeface="Lato"/>
                <a:ea typeface="Lato"/>
                <a:cs typeface="Lato"/>
                <a:rtl val="0"/>
              </a:rPr>
              <a:t>Мурзагалеев </a:t>
            </a:r>
            <a:r>
              <a:rPr lang="ru-RU" sz="1600" kern="0" dirty="0" smtClean="0">
                <a:latin typeface="Lato"/>
                <a:ea typeface="Lato"/>
                <a:cs typeface="Lato"/>
                <a:rtl val="0"/>
              </a:rPr>
              <a:t>Тагир Муратович,</a:t>
            </a:r>
          </a:p>
          <a:p>
            <a:pPr algn="r"/>
            <a:r>
              <a:rPr lang="ru-RU" sz="1600" i="1" kern="0" dirty="0">
                <a:latin typeface="Lato"/>
                <a:ea typeface="Lato"/>
                <a:cs typeface="Lato"/>
                <a:rtl val="0"/>
              </a:rPr>
              <a:t>Г</a:t>
            </a:r>
            <a:r>
              <a:rPr lang="ru-RU" sz="1600" i="1" kern="0" dirty="0" smtClean="0">
                <a:latin typeface="Lato"/>
                <a:ea typeface="Lato"/>
                <a:cs typeface="Lato"/>
                <a:rtl val="0"/>
              </a:rPr>
              <a:t>лавный </a:t>
            </a:r>
            <a:r>
              <a:rPr lang="ru-RU" sz="1600" i="1" kern="0" dirty="0">
                <a:latin typeface="Lato"/>
                <a:ea typeface="Lato"/>
                <a:cs typeface="Lato"/>
                <a:rtl val="0"/>
              </a:rPr>
              <a:t>инженер проектов проектного офиса №</a:t>
            </a:r>
            <a:r>
              <a:rPr lang="ru-RU" sz="1600" i="1" kern="0" dirty="0" smtClean="0">
                <a:latin typeface="Lato"/>
                <a:ea typeface="Lato"/>
                <a:cs typeface="Lato"/>
                <a:rtl val="0"/>
              </a:rPr>
              <a:t>12</a:t>
            </a:r>
            <a:endParaRPr lang="ru-RU" sz="16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B8D4375-7B70-5914-BF33-7026B22D68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08" y="798518"/>
            <a:ext cx="3224867" cy="136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776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Freeform 6"/>
          <p:cNvSpPr>
            <a:spLocks/>
          </p:cNvSpPr>
          <p:nvPr/>
        </p:nvSpPr>
        <p:spPr bwMode="auto">
          <a:xfrm>
            <a:off x="1232530" y="4872357"/>
            <a:ext cx="7794738" cy="1879340"/>
          </a:xfrm>
          <a:prstGeom prst="roundRect">
            <a:avLst/>
          </a:prstGeom>
          <a:solidFill>
            <a:schemeClr val="bg1">
              <a:lumMod val="95000"/>
              <a:alpha val="54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ru-RU" sz="1600" dirty="0"/>
          </a:p>
        </p:txBody>
      </p:sp>
      <p:pic>
        <p:nvPicPr>
          <p:cNvPr id="49" name="Рисунок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267" y="2311310"/>
            <a:ext cx="2009398" cy="199211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6252" y="1094188"/>
            <a:ext cx="523060" cy="549693"/>
          </a:xfrm>
          <a:prstGeom prst="rect">
            <a:avLst/>
          </a:prstGeom>
        </p:spPr>
      </p:pic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805128" y="514728"/>
            <a:ext cx="7399700" cy="687386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3200" b="0" kern="0" dirty="0">
                <a:solidFill>
                  <a:srgbClr val="464646"/>
                </a:solidFill>
                <a:latin typeface="Lato"/>
                <a:ea typeface="Lato"/>
                <a:cs typeface="Lato"/>
                <a:rtl val="0"/>
              </a:rPr>
              <a:t>Актуальность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05129" y="1319682"/>
            <a:ext cx="8530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Частью любого договора на ПИР является календарный план работ со 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сроками начала и окончания этапов работ</a:t>
            </a:r>
          </a:p>
        </p:txBody>
      </p:sp>
      <p:sp>
        <p:nvSpPr>
          <p:cNvPr id="8" name="Rectangle 61"/>
          <p:cNvSpPr/>
          <p:nvPr/>
        </p:nvSpPr>
        <p:spPr>
          <a:xfrm>
            <a:off x="5071852" y="3443018"/>
            <a:ext cx="4728165" cy="690534"/>
          </a:xfrm>
          <a:prstGeom prst="rect">
            <a:avLst/>
          </a:prstGeom>
          <a:gradFill>
            <a:gsLst>
              <a:gs pos="0">
                <a:srgbClr val="DD9505"/>
              </a:gs>
              <a:gs pos="100000">
                <a:srgbClr val="EDA005"/>
              </a:gs>
            </a:gsLst>
            <a:lin ang="0" scaled="0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177804">
              <a:spcBef>
                <a:spcPts val="600"/>
              </a:spcBef>
              <a:buSzPct val="80000"/>
            </a:pPr>
            <a:r>
              <a:rPr lang="ru-RU" sz="1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начале проектирования сложно корректно оценить количество ресурсов, которые необходимо будет затратить</a:t>
            </a:r>
          </a:p>
        </p:txBody>
      </p:sp>
      <p:sp>
        <p:nvSpPr>
          <p:cNvPr id="9" name="Rectangle 13"/>
          <p:cNvSpPr/>
          <p:nvPr/>
        </p:nvSpPr>
        <p:spPr>
          <a:xfrm>
            <a:off x="4737566" y="2641113"/>
            <a:ext cx="5062450" cy="540182"/>
          </a:xfrm>
          <a:prstGeom prst="rect">
            <a:avLst/>
          </a:prstGeom>
          <a:gradFill>
            <a:gsLst>
              <a:gs pos="0">
                <a:srgbClr val="DD9505"/>
              </a:gs>
              <a:gs pos="100000">
                <a:srgbClr val="EDA005"/>
              </a:gs>
            </a:gsLst>
            <a:lin ang="0" scaled="0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177804">
              <a:spcBef>
                <a:spcPts val="600"/>
              </a:spcBef>
              <a:buSzPct val="80000"/>
            </a:pPr>
            <a:r>
              <a:rPr lang="ru-RU" sz="1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Для корректного планирования сроков проектирования необходим соответствующий опыт и квалификация</a:t>
            </a:r>
          </a:p>
        </p:txBody>
      </p:sp>
      <p:grpSp>
        <p:nvGrpSpPr>
          <p:cNvPr id="17" name="Group 22"/>
          <p:cNvGrpSpPr/>
          <p:nvPr/>
        </p:nvGrpSpPr>
        <p:grpSpPr>
          <a:xfrm>
            <a:off x="4185218" y="2311310"/>
            <a:ext cx="685545" cy="1001439"/>
            <a:chOff x="6488349" y="2176772"/>
            <a:chExt cx="827184" cy="1185369"/>
          </a:xfrm>
        </p:grpSpPr>
        <p:grpSp>
          <p:nvGrpSpPr>
            <p:cNvPr id="18" name="Group 17"/>
            <p:cNvGrpSpPr/>
            <p:nvPr/>
          </p:nvGrpSpPr>
          <p:grpSpPr>
            <a:xfrm>
              <a:off x="6488349" y="2176772"/>
              <a:ext cx="827184" cy="1185369"/>
              <a:chOff x="6488349" y="2176772"/>
              <a:chExt cx="827184" cy="1185369"/>
            </a:xfrm>
          </p:grpSpPr>
          <p:sp>
            <p:nvSpPr>
              <p:cNvPr id="21" name="Freeform 11"/>
              <p:cNvSpPr>
                <a:spLocks/>
              </p:cNvSpPr>
              <p:nvPr/>
            </p:nvSpPr>
            <p:spPr bwMode="auto">
              <a:xfrm>
                <a:off x="6901941" y="2348135"/>
                <a:ext cx="413592" cy="1014006"/>
              </a:xfrm>
              <a:custGeom>
                <a:avLst/>
                <a:gdLst>
                  <a:gd name="T0" fmla="*/ 0 w 321"/>
                  <a:gd name="T1" fmla="*/ 787 h 787"/>
                  <a:gd name="T2" fmla="*/ 321 w 321"/>
                  <a:gd name="T3" fmla="*/ 653 h 787"/>
                  <a:gd name="T4" fmla="*/ 321 w 321"/>
                  <a:gd name="T5" fmla="*/ 0 h 787"/>
                  <a:gd name="T6" fmla="*/ 0 w 321"/>
                  <a:gd name="T7" fmla="*/ 136 h 787"/>
                  <a:gd name="T8" fmla="*/ 0 w 321"/>
                  <a:gd name="T9" fmla="*/ 787 h 7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1" h="787">
                    <a:moveTo>
                      <a:pt x="0" y="787"/>
                    </a:moveTo>
                    <a:lnTo>
                      <a:pt x="321" y="653"/>
                    </a:lnTo>
                    <a:lnTo>
                      <a:pt x="321" y="0"/>
                    </a:lnTo>
                    <a:lnTo>
                      <a:pt x="0" y="136"/>
                    </a:lnTo>
                    <a:lnTo>
                      <a:pt x="0" y="787"/>
                    </a:lnTo>
                    <a:close/>
                  </a:path>
                </a:pathLst>
              </a:custGeom>
              <a:solidFill>
                <a:srgbClr val="DE9605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914423">
                  <a:defRPr/>
                </a:pPr>
                <a:endParaRPr lang="id-ID" sz="1350" kern="0"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22" name="Freeform 12"/>
              <p:cNvSpPr>
                <a:spLocks/>
              </p:cNvSpPr>
              <p:nvPr/>
            </p:nvSpPr>
            <p:spPr bwMode="auto">
              <a:xfrm>
                <a:off x="6488349" y="2348135"/>
                <a:ext cx="413592" cy="1014006"/>
              </a:xfrm>
              <a:custGeom>
                <a:avLst/>
                <a:gdLst>
                  <a:gd name="T0" fmla="*/ 321 w 321"/>
                  <a:gd name="T1" fmla="*/ 787 h 787"/>
                  <a:gd name="T2" fmla="*/ 0 w 321"/>
                  <a:gd name="T3" fmla="*/ 653 h 787"/>
                  <a:gd name="T4" fmla="*/ 0 w 321"/>
                  <a:gd name="T5" fmla="*/ 0 h 787"/>
                  <a:gd name="T6" fmla="*/ 321 w 321"/>
                  <a:gd name="T7" fmla="*/ 136 h 787"/>
                  <a:gd name="T8" fmla="*/ 321 w 321"/>
                  <a:gd name="T9" fmla="*/ 787 h 7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1" h="787">
                    <a:moveTo>
                      <a:pt x="321" y="787"/>
                    </a:moveTo>
                    <a:lnTo>
                      <a:pt x="0" y="653"/>
                    </a:lnTo>
                    <a:lnTo>
                      <a:pt x="0" y="0"/>
                    </a:lnTo>
                    <a:lnTo>
                      <a:pt x="321" y="136"/>
                    </a:lnTo>
                    <a:lnTo>
                      <a:pt x="321" y="787"/>
                    </a:lnTo>
                    <a:close/>
                  </a:path>
                </a:pathLst>
              </a:custGeom>
              <a:solidFill>
                <a:srgbClr val="FBBA37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914423">
                  <a:defRPr/>
                </a:pPr>
                <a:endParaRPr lang="id-ID" sz="1350" kern="0"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23" name="Freeform 13"/>
              <p:cNvSpPr>
                <a:spLocks/>
              </p:cNvSpPr>
              <p:nvPr/>
            </p:nvSpPr>
            <p:spPr bwMode="auto">
              <a:xfrm>
                <a:off x="6488349" y="2176772"/>
                <a:ext cx="827182" cy="346592"/>
              </a:xfrm>
              <a:custGeom>
                <a:avLst/>
                <a:gdLst>
                  <a:gd name="T0" fmla="*/ 321 w 642"/>
                  <a:gd name="T1" fmla="*/ 269 h 269"/>
                  <a:gd name="T2" fmla="*/ 0 w 642"/>
                  <a:gd name="T3" fmla="*/ 133 h 269"/>
                  <a:gd name="T4" fmla="*/ 321 w 642"/>
                  <a:gd name="T5" fmla="*/ 0 h 269"/>
                  <a:gd name="T6" fmla="*/ 642 w 642"/>
                  <a:gd name="T7" fmla="*/ 133 h 269"/>
                  <a:gd name="T8" fmla="*/ 321 w 642"/>
                  <a:gd name="T9" fmla="*/ 269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2" h="269">
                    <a:moveTo>
                      <a:pt x="321" y="269"/>
                    </a:moveTo>
                    <a:lnTo>
                      <a:pt x="0" y="133"/>
                    </a:lnTo>
                    <a:lnTo>
                      <a:pt x="321" y="0"/>
                    </a:lnTo>
                    <a:lnTo>
                      <a:pt x="642" y="133"/>
                    </a:lnTo>
                    <a:lnTo>
                      <a:pt x="321" y="269"/>
                    </a:lnTo>
                    <a:close/>
                  </a:path>
                </a:pathLst>
              </a:custGeom>
              <a:solidFill>
                <a:srgbClr val="DE9605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914423">
                  <a:defRPr/>
                </a:pPr>
                <a:endParaRPr lang="id-ID" sz="1350" kern="0"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6518932" y="2514313"/>
              <a:ext cx="383011" cy="615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23">
                <a:defRPr/>
              </a:pPr>
              <a:r>
                <a:rPr lang="ru-RU" sz="2400" b="1" kern="0" dirty="0">
                  <a:solidFill>
                    <a:schemeClr val="bg2">
                      <a:lumMod val="10000"/>
                    </a:schemeClr>
                  </a:solidFill>
                  <a:effectLst>
                    <a:glow rad="63500">
                      <a:schemeClr val="bg1">
                        <a:alpha val="40000"/>
                      </a:schemeClr>
                    </a:glow>
                  </a:effectLst>
                  <a:latin typeface="Arial"/>
                  <a:cs typeface="Arial"/>
                  <a:sym typeface="Arial"/>
                  <a:rtl val="0"/>
                </a:rPr>
                <a:t>!</a:t>
              </a:r>
              <a:endParaRPr lang="id-ID" sz="2400" b="1" kern="0" dirty="0">
                <a:solidFill>
                  <a:schemeClr val="bg2">
                    <a:lumMod val="10000"/>
                  </a:schemeClr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Arial"/>
                <a:cs typeface="Arial"/>
                <a:sym typeface="Arial"/>
                <a:rtl val="0"/>
              </a:endParaRPr>
            </a:p>
          </p:txBody>
        </p:sp>
      </p:grpSp>
      <p:sp>
        <p:nvSpPr>
          <p:cNvPr id="31" name="Rectangle 13"/>
          <p:cNvSpPr/>
          <p:nvPr/>
        </p:nvSpPr>
        <p:spPr>
          <a:xfrm>
            <a:off x="-1272507" y="5296597"/>
            <a:ext cx="907314" cy="540182"/>
          </a:xfrm>
          <a:prstGeom prst="rect">
            <a:avLst/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chemeClr val="bg2">
                  <a:lumMod val="90000"/>
                </a:schemeClr>
              </a:gs>
            </a:gsLst>
            <a:lin ang="0" scaled="0"/>
          </a:gradFill>
          <a:ln w="25400" cap="flat" cmpd="sng" algn="ctr">
            <a:noFill/>
            <a:prstDash val="solid"/>
          </a:ln>
          <a:effectLst/>
          <a:scene3d>
            <a:camera prst="orthographicFront">
              <a:rot lat="0" lon="10800000" rev="0"/>
            </a:camera>
            <a:lightRig rig="threePt" dir="t"/>
          </a:scene3d>
          <a:sp3d/>
        </p:spPr>
        <p:txBody>
          <a:bodyPr rtlCol="0" anchor="ctr">
            <a:flatTx/>
          </a:bodyPr>
          <a:lstStyle/>
          <a:p>
            <a:pPr marL="177804">
              <a:spcBef>
                <a:spcPts val="600"/>
              </a:spcBef>
              <a:buSzPct val="80000"/>
            </a:pPr>
            <a:r>
              <a:rPr lang="ru-RU" sz="1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Для корректного планирования сроков проектирования необходим соответствующий опыт и квалификация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127" y="3029318"/>
            <a:ext cx="1552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Проблематика</a:t>
            </a:r>
          </a:p>
          <a:p>
            <a:r>
              <a:rPr lang="ru-RU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данной темы</a:t>
            </a:r>
          </a:p>
        </p:txBody>
      </p:sp>
      <p:sp>
        <p:nvSpPr>
          <p:cNvPr id="50" name="Curved Down Arrow 136"/>
          <p:cNvSpPr/>
          <p:nvPr/>
        </p:nvSpPr>
        <p:spPr>
          <a:xfrm rot="6330738">
            <a:off x="-600814" y="7400638"/>
            <a:ext cx="1762710" cy="961249"/>
          </a:xfrm>
          <a:prstGeom prst="curvedDownArrow">
            <a:avLst>
              <a:gd name="adj1" fmla="val 29603"/>
              <a:gd name="adj2" fmla="val 50000"/>
              <a:gd name="adj3" fmla="val 44604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59" name="Shape 1852"/>
          <p:cNvSpPr/>
          <p:nvPr/>
        </p:nvSpPr>
        <p:spPr>
          <a:xfrm rot="11265117">
            <a:off x="-2982901" y="761260"/>
            <a:ext cx="2633685" cy="248935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985" y="64680"/>
                </a:moveTo>
                <a:lnTo>
                  <a:pt x="4985" y="64680"/>
                </a:lnTo>
                <a:cubicBezTo>
                  <a:pt x="3682" y="49360"/>
                  <a:pt x="8826" y="34190"/>
                  <a:pt x="19179" y="22822"/>
                </a:cubicBezTo>
                <a:lnTo>
                  <a:pt x="16020" y="19255"/>
                </a:lnTo>
                <a:lnTo>
                  <a:pt x="25770" y="21357"/>
                </a:lnTo>
                <a:lnTo>
                  <a:pt x="27129" y="31797"/>
                </a:lnTo>
                <a:lnTo>
                  <a:pt x="23972" y="28233"/>
                </a:lnTo>
                <a:lnTo>
                  <a:pt x="23972" y="28233"/>
                </a:lnTo>
                <a:cubicBezTo>
                  <a:pt x="15303" y="38064"/>
                  <a:pt x="11029" y="51011"/>
                  <a:pt x="12140" y="64071"/>
                </a:cubicBezTo>
                <a:close/>
              </a:path>
            </a:pathLst>
          </a:custGeom>
          <a:solidFill>
            <a:srgbClr val="FBBA37"/>
          </a:solidFill>
          <a:ln w="127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defTabSz="914423">
              <a:defRPr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61" name="Прямоугольник 60"/>
          <p:cNvSpPr/>
          <p:nvPr/>
        </p:nvSpPr>
        <p:spPr>
          <a:xfrm>
            <a:off x="3445875" y="4503025"/>
            <a:ext cx="271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Предлагаемое решение: </a:t>
            </a:r>
          </a:p>
        </p:txBody>
      </p:sp>
      <p:sp>
        <p:nvSpPr>
          <p:cNvPr id="62" name="Прямоугольник 61"/>
          <p:cNvSpPr/>
          <p:nvPr/>
        </p:nvSpPr>
        <p:spPr>
          <a:xfrm>
            <a:off x="1485656" y="4889649"/>
            <a:ext cx="7541612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программного модуля, который позволит оперативно </a:t>
            </a:r>
            <a:r>
              <a:rPr lang="ru-RU" sz="15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рассчитать </a:t>
            </a:r>
            <a:r>
              <a:rPr lang="ru-RU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сроки проектирования каждого этапа проекта, </a:t>
            </a:r>
            <a:r>
              <a:rPr lang="ru-RU" sz="15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при этом давая возможность своевременно сориентировать специалиста по срокам проектирования при рассмотрении формы 9.4.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5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Помимо этого, </a:t>
            </a:r>
            <a:r>
              <a:rPr lang="ru-RU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данный инструмент даст возможность нивелировать уровни профессионального опыта и квалификации специалиста, участвующего в создании календарного плана</a:t>
            </a: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ru-RU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0" name="Group 22"/>
          <p:cNvGrpSpPr/>
          <p:nvPr/>
        </p:nvGrpSpPr>
        <p:grpSpPr>
          <a:xfrm>
            <a:off x="4406030" y="3309740"/>
            <a:ext cx="682658" cy="967398"/>
            <a:chOff x="6488349" y="2176772"/>
            <a:chExt cx="827184" cy="1185369"/>
          </a:xfrm>
        </p:grpSpPr>
        <p:grpSp>
          <p:nvGrpSpPr>
            <p:cNvPr id="32" name="Group 17"/>
            <p:cNvGrpSpPr/>
            <p:nvPr/>
          </p:nvGrpSpPr>
          <p:grpSpPr>
            <a:xfrm>
              <a:off x="6488349" y="2176772"/>
              <a:ext cx="827184" cy="1185369"/>
              <a:chOff x="6488349" y="2176772"/>
              <a:chExt cx="827184" cy="1185369"/>
            </a:xfrm>
          </p:grpSpPr>
          <p:sp>
            <p:nvSpPr>
              <p:cNvPr id="34" name="Freeform 11"/>
              <p:cNvSpPr>
                <a:spLocks/>
              </p:cNvSpPr>
              <p:nvPr/>
            </p:nvSpPr>
            <p:spPr bwMode="auto">
              <a:xfrm>
                <a:off x="6901941" y="2348135"/>
                <a:ext cx="413592" cy="1014006"/>
              </a:xfrm>
              <a:custGeom>
                <a:avLst/>
                <a:gdLst>
                  <a:gd name="T0" fmla="*/ 0 w 321"/>
                  <a:gd name="T1" fmla="*/ 787 h 787"/>
                  <a:gd name="T2" fmla="*/ 321 w 321"/>
                  <a:gd name="T3" fmla="*/ 653 h 787"/>
                  <a:gd name="T4" fmla="*/ 321 w 321"/>
                  <a:gd name="T5" fmla="*/ 0 h 787"/>
                  <a:gd name="T6" fmla="*/ 0 w 321"/>
                  <a:gd name="T7" fmla="*/ 136 h 787"/>
                  <a:gd name="T8" fmla="*/ 0 w 321"/>
                  <a:gd name="T9" fmla="*/ 787 h 7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1" h="787">
                    <a:moveTo>
                      <a:pt x="0" y="787"/>
                    </a:moveTo>
                    <a:lnTo>
                      <a:pt x="321" y="653"/>
                    </a:lnTo>
                    <a:lnTo>
                      <a:pt x="321" y="0"/>
                    </a:lnTo>
                    <a:lnTo>
                      <a:pt x="0" y="136"/>
                    </a:lnTo>
                    <a:lnTo>
                      <a:pt x="0" y="787"/>
                    </a:lnTo>
                    <a:close/>
                  </a:path>
                </a:pathLst>
              </a:custGeom>
              <a:solidFill>
                <a:srgbClr val="DE9605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914423">
                  <a:defRPr/>
                </a:pPr>
                <a:endParaRPr lang="id-ID" sz="1350" kern="0"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35" name="Freeform 12"/>
              <p:cNvSpPr>
                <a:spLocks/>
              </p:cNvSpPr>
              <p:nvPr/>
            </p:nvSpPr>
            <p:spPr bwMode="auto">
              <a:xfrm>
                <a:off x="6488349" y="2348135"/>
                <a:ext cx="413592" cy="1014006"/>
              </a:xfrm>
              <a:custGeom>
                <a:avLst/>
                <a:gdLst>
                  <a:gd name="T0" fmla="*/ 321 w 321"/>
                  <a:gd name="T1" fmla="*/ 787 h 787"/>
                  <a:gd name="T2" fmla="*/ 0 w 321"/>
                  <a:gd name="T3" fmla="*/ 653 h 787"/>
                  <a:gd name="T4" fmla="*/ 0 w 321"/>
                  <a:gd name="T5" fmla="*/ 0 h 787"/>
                  <a:gd name="T6" fmla="*/ 321 w 321"/>
                  <a:gd name="T7" fmla="*/ 136 h 787"/>
                  <a:gd name="T8" fmla="*/ 321 w 321"/>
                  <a:gd name="T9" fmla="*/ 787 h 7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1" h="787">
                    <a:moveTo>
                      <a:pt x="321" y="787"/>
                    </a:moveTo>
                    <a:lnTo>
                      <a:pt x="0" y="653"/>
                    </a:lnTo>
                    <a:lnTo>
                      <a:pt x="0" y="0"/>
                    </a:lnTo>
                    <a:lnTo>
                      <a:pt x="321" y="136"/>
                    </a:lnTo>
                    <a:lnTo>
                      <a:pt x="321" y="787"/>
                    </a:lnTo>
                    <a:close/>
                  </a:path>
                </a:pathLst>
              </a:custGeom>
              <a:solidFill>
                <a:srgbClr val="FBBA37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914423">
                  <a:defRPr/>
                </a:pPr>
                <a:endParaRPr lang="id-ID" sz="1350" kern="0"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36" name="Freeform 13"/>
              <p:cNvSpPr>
                <a:spLocks/>
              </p:cNvSpPr>
              <p:nvPr/>
            </p:nvSpPr>
            <p:spPr bwMode="auto">
              <a:xfrm>
                <a:off x="6488349" y="2176772"/>
                <a:ext cx="827182" cy="346592"/>
              </a:xfrm>
              <a:custGeom>
                <a:avLst/>
                <a:gdLst>
                  <a:gd name="T0" fmla="*/ 321 w 642"/>
                  <a:gd name="T1" fmla="*/ 269 h 269"/>
                  <a:gd name="T2" fmla="*/ 0 w 642"/>
                  <a:gd name="T3" fmla="*/ 133 h 269"/>
                  <a:gd name="T4" fmla="*/ 321 w 642"/>
                  <a:gd name="T5" fmla="*/ 0 h 269"/>
                  <a:gd name="T6" fmla="*/ 642 w 642"/>
                  <a:gd name="T7" fmla="*/ 133 h 269"/>
                  <a:gd name="T8" fmla="*/ 321 w 642"/>
                  <a:gd name="T9" fmla="*/ 269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2" h="269">
                    <a:moveTo>
                      <a:pt x="321" y="269"/>
                    </a:moveTo>
                    <a:lnTo>
                      <a:pt x="0" y="133"/>
                    </a:lnTo>
                    <a:lnTo>
                      <a:pt x="321" y="0"/>
                    </a:lnTo>
                    <a:lnTo>
                      <a:pt x="642" y="133"/>
                    </a:lnTo>
                    <a:lnTo>
                      <a:pt x="321" y="269"/>
                    </a:lnTo>
                    <a:close/>
                  </a:path>
                </a:pathLst>
              </a:custGeom>
              <a:solidFill>
                <a:srgbClr val="E89C05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914423">
                  <a:defRPr/>
                </a:pPr>
                <a:endParaRPr lang="id-ID" sz="1350" kern="0"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>
            <a:xfrm>
              <a:off x="6518932" y="2514313"/>
              <a:ext cx="383011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23">
                <a:defRPr/>
              </a:pPr>
              <a:r>
                <a:rPr lang="ru-RU" sz="2400" b="1" kern="0" dirty="0">
                  <a:solidFill>
                    <a:schemeClr val="bg2">
                      <a:lumMod val="10000"/>
                    </a:schemeClr>
                  </a:solidFill>
                  <a:effectLst>
                    <a:glow rad="63500">
                      <a:schemeClr val="bg1">
                        <a:alpha val="40000"/>
                      </a:schemeClr>
                    </a:glow>
                  </a:effectLst>
                  <a:latin typeface="Arial"/>
                  <a:cs typeface="Arial"/>
                  <a:sym typeface="Arial"/>
                  <a:rtl val="0"/>
                </a:rPr>
                <a:t>!</a:t>
              </a:r>
              <a:endParaRPr lang="id-ID" sz="2400" b="1" kern="0" dirty="0">
                <a:solidFill>
                  <a:schemeClr val="bg2">
                    <a:lumMod val="10000"/>
                  </a:schemeClr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Arial"/>
                <a:cs typeface="Arial"/>
                <a:sym typeface="Arial"/>
                <a:rtl val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6254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50" grpId="0" animBg="1"/>
      <p:bldP spid="61" grpId="0"/>
      <p:bldP spid="6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604851" y="1856489"/>
            <a:ext cx="7063911" cy="25246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>
            <a:defPPr>
              <a:defRPr lang="en-US"/>
            </a:defPPr>
            <a:lvl1pPr defTabSz="990570">
              <a:lnSpc>
                <a:spcPct val="120000"/>
              </a:lnSpc>
              <a:spcAft>
                <a:spcPts val="1300"/>
              </a:spcAft>
              <a:buSzPct val="25000"/>
              <a:defRPr sz="1200" kern="0">
                <a:solidFill>
                  <a:srgbClr val="000000"/>
                </a:solidFill>
                <a:latin typeface="Lato"/>
                <a:ea typeface="Lato"/>
                <a:cs typeface="Lato"/>
                <a:rtl val="0"/>
              </a:defRPr>
            </a:lvl1pPr>
          </a:lstStyle>
          <a:p>
            <a:r>
              <a:rPr lang="ru-RU" sz="2000" b="1" dirty="0"/>
              <a:t>Создание инструмента, позволяющего в автоматическом режиме по имеющимся вводным данным (задание на проектирование, таблица объемов) рассчитывать сроки выполнения каждого этапа проектирования, оформляя выходные данные в календарный план работ.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3856" y="571709"/>
            <a:ext cx="7054803" cy="584775"/>
          </a:xfrm>
          <a:prstGeom prst="rect">
            <a:avLst/>
          </a:prstGeom>
        </p:spPr>
        <p:txBody>
          <a:bodyPr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0" i="0" u="none" strike="noStrike" kern="0" cap="none" spc="0" normalizeH="0" baseline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Lato"/>
                <a:ea typeface="Lato"/>
                <a:cs typeface="Lato"/>
                <a:rtl val="0"/>
              </a:defRPr>
            </a:lvl1pPr>
          </a:lstStyle>
          <a:p>
            <a:r>
              <a:rPr lang="ru-RU" dirty="0"/>
              <a:t>Цель проекта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084792" y="4829594"/>
            <a:ext cx="8517467" cy="1031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4">
              <a:spcBef>
                <a:spcPts val="600"/>
              </a:spcBef>
              <a:buSzPct val="80000"/>
            </a:pPr>
            <a:r>
              <a:rPr lang="ru-RU" sz="1400" i="1" dirty="0"/>
              <a:t>Календарный план производства работ устанавливает последовательность и сроки выполнения работ в зависимости от сложности объекта, объемов и технологий работ. </a:t>
            </a:r>
          </a:p>
          <a:p>
            <a:pPr marL="177804">
              <a:spcBef>
                <a:spcPts val="600"/>
              </a:spcBef>
              <a:buSzPct val="80000"/>
            </a:pPr>
            <a:r>
              <a:rPr lang="ru-RU" sz="1400" i="1" dirty="0"/>
              <a:t>По данным календарного плана определяются потребность в ресурсах, составляется график работ в единицах: объем работ - время (дни, недели, месяцы).</a:t>
            </a:r>
          </a:p>
        </p:txBody>
      </p:sp>
      <p:grpSp>
        <p:nvGrpSpPr>
          <p:cNvPr id="7" name="Shape 2316"/>
          <p:cNvGrpSpPr/>
          <p:nvPr/>
        </p:nvGrpSpPr>
        <p:grpSpPr>
          <a:xfrm>
            <a:off x="-1699509" y="3287014"/>
            <a:ext cx="1500636" cy="2188162"/>
            <a:chOff x="3614737" y="1629578"/>
            <a:chExt cx="1904999" cy="2867021"/>
          </a:xfrm>
        </p:grpSpPr>
        <p:sp>
          <p:nvSpPr>
            <p:cNvPr id="10" name="Shape 2317"/>
            <p:cNvSpPr/>
            <p:nvPr/>
          </p:nvSpPr>
          <p:spPr>
            <a:xfrm>
              <a:off x="3614737" y="1629578"/>
              <a:ext cx="1904999" cy="219868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98265" y="11330"/>
                  </a:moveTo>
                  <a:cubicBezTo>
                    <a:pt x="87818" y="4240"/>
                    <a:pt x="73737" y="0"/>
                    <a:pt x="60573" y="0"/>
                  </a:cubicBezTo>
                  <a:cubicBezTo>
                    <a:pt x="60573" y="0"/>
                    <a:pt x="60573" y="0"/>
                    <a:pt x="60573" y="0"/>
                  </a:cubicBezTo>
                  <a:cubicBezTo>
                    <a:pt x="60344" y="0"/>
                    <a:pt x="60114" y="0"/>
                    <a:pt x="59923" y="0"/>
                  </a:cubicBezTo>
                  <a:cubicBezTo>
                    <a:pt x="53992" y="66"/>
                    <a:pt x="47678" y="960"/>
                    <a:pt x="41632" y="2551"/>
                  </a:cubicBezTo>
                  <a:cubicBezTo>
                    <a:pt x="34362" y="4472"/>
                    <a:pt x="27818" y="7355"/>
                    <a:pt x="22117" y="11098"/>
                  </a:cubicBezTo>
                  <a:cubicBezTo>
                    <a:pt x="15382" y="15538"/>
                    <a:pt x="10063" y="21104"/>
                    <a:pt x="6352" y="27631"/>
                  </a:cubicBezTo>
                  <a:cubicBezTo>
                    <a:pt x="2142" y="35019"/>
                    <a:pt x="0" y="43600"/>
                    <a:pt x="0" y="53175"/>
                  </a:cubicBezTo>
                  <a:cubicBezTo>
                    <a:pt x="0" y="62418"/>
                    <a:pt x="1147" y="72589"/>
                    <a:pt x="15076" y="86570"/>
                  </a:cubicBezTo>
                  <a:cubicBezTo>
                    <a:pt x="19974" y="91474"/>
                    <a:pt x="21926" y="95317"/>
                    <a:pt x="22729" y="97702"/>
                  </a:cubicBezTo>
                  <a:cubicBezTo>
                    <a:pt x="23418" y="99823"/>
                    <a:pt x="23303" y="101148"/>
                    <a:pt x="23265" y="101413"/>
                  </a:cubicBezTo>
                  <a:cubicBezTo>
                    <a:pt x="23265" y="101446"/>
                    <a:pt x="23265" y="101446"/>
                    <a:pt x="23265" y="101446"/>
                  </a:cubicBezTo>
                  <a:cubicBezTo>
                    <a:pt x="23227" y="101678"/>
                    <a:pt x="23227" y="101678"/>
                    <a:pt x="23227" y="101678"/>
                  </a:cubicBezTo>
                  <a:cubicBezTo>
                    <a:pt x="22920" y="103003"/>
                    <a:pt x="21696" y="109928"/>
                    <a:pt x="25905" y="115096"/>
                  </a:cubicBezTo>
                  <a:cubicBezTo>
                    <a:pt x="28048" y="117713"/>
                    <a:pt x="31186" y="119403"/>
                    <a:pt x="35012" y="119933"/>
                  </a:cubicBezTo>
                  <a:cubicBezTo>
                    <a:pt x="35510" y="120000"/>
                    <a:pt x="35510" y="120000"/>
                    <a:pt x="35510" y="120000"/>
                  </a:cubicBezTo>
                  <a:cubicBezTo>
                    <a:pt x="36045" y="120000"/>
                    <a:pt x="36045" y="120000"/>
                    <a:pt x="36045" y="120000"/>
                  </a:cubicBezTo>
                  <a:cubicBezTo>
                    <a:pt x="59999" y="120000"/>
                    <a:pt x="59999" y="120000"/>
                    <a:pt x="59999" y="120000"/>
                  </a:cubicBezTo>
                  <a:cubicBezTo>
                    <a:pt x="83954" y="120000"/>
                    <a:pt x="83954" y="120000"/>
                    <a:pt x="83954" y="120000"/>
                  </a:cubicBezTo>
                  <a:cubicBezTo>
                    <a:pt x="84451" y="120000"/>
                    <a:pt x="84451" y="120000"/>
                    <a:pt x="84451" y="120000"/>
                  </a:cubicBezTo>
                  <a:cubicBezTo>
                    <a:pt x="84987" y="119933"/>
                    <a:pt x="84987" y="119933"/>
                    <a:pt x="84987" y="119933"/>
                  </a:cubicBezTo>
                  <a:cubicBezTo>
                    <a:pt x="88813" y="119403"/>
                    <a:pt x="91951" y="117713"/>
                    <a:pt x="94094" y="115096"/>
                  </a:cubicBezTo>
                  <a:cubicBezTo>
                    <a:pt x="98303" y="109928"/>
                    <a:pt x="97079" y="103003"/>
                    <a:pt x="96772" y="101678"/>
                  </a:cubicBezTo>
                  <a:cubicBezTo>
                    <a:pt x="96734" y="101413"/>
                    <a:pt x="96734" y="101413"/>
                    <a:pt x="96734" y="101413"/>
                  </a:cubicBezTo>
                  <a:cubicBezTo>
                    <a:pt x="96696" y="101347"/>
                    <a:pt x="96696" y="101347"/>
                    <a:pt x="96696" y="101347"/>
                  </a:cubicBezTo>
                  <a:cubicBezTo>
                    <a:pt x="96658" y="101082"/>
                    <a:pt x="96543" y="99790"/>
                    <a:pt x="97232" y="97636"/>
                  </a:cubicBezTo>
                  <a:cubicBezTo>
                    <a:pt x="97997" y="95284"/>
                    <a:pt x="99948" y="91474"/>
                    <a:pt x="104846" y="86637"/>
                  </a:cubicBezTo>
                  <a:cubicBezTo>
                    <a:pt x="118201" y="73484"/>
                    <a:pt x="119999" y="62319"/>
                    <a:pt x="119999" y="53175"/>
                  </a:cubicBezTo>
                  <a:cubicBezTo>
                    <a:pt x="119999" y="30745"/>
                    <a:pt x="108176" y="18023"/>
                    <a:pt x="98265" y="11330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Shape 2319"/>
            <p:cNvSpPr/>
            <p:nvPr/>
          </p:nvSpPr>
          <p:spPr>
            <a:xfrm>
              <a:off x="3783012" y="1732766"/>
              <a:ext cx="1568450" cy="56497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20000"/>
                  </a:moveTo>
                  <a:cubicBezTo>
                    <a:pt x="120000" y="120000"/>
                    <a:pt x="120000" y="120000"/>
                    <a:pt x="120000" y="120000"/>
                  </a:cubicBezTo>
                  <a:cubicBezTo>
                    <a:pt x="104750" y="730"/>
                    <a:pt x="60023" y="0"/>
                    <a:pt x="60023" y="0"/>
                  </a:cubicBezTo>
                  <a:cubicBezTo>
                    <a:pt x="60023" y="0"/>
                    <a:pt x="15296" y="730"/>
                    <a:pt x="0" y="120000"/>
                  </a:cubicBezTo>
                  <a:close/>
                </a:path>
              </a:pathLst>
            </a:custGeom>
            <a:solidFill>
              <a:srgbClr val="FBBA37"/>
            </a:solidFill>
            <a:ln w="9525" cap="flat" cmpd="sng">
              <a:noFill/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Shape 2320"/>
            <p:cNvSpPr/>
            <p:nvPr/>
          </p:nvSpPr>
          <p:spPr>
            <a:xfrm>
              <a:off x="3717925" y="2231241"/>
              <a:ext cx="1698625" cy="4984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631" y="0"/>
                  </a:moveTo>
                  <a:cubicBezTo>
                    <a:pt x="1758" y="24555"/>
                    <a:pt x="0" y="54226"/>
                    <a:pt x="0" y="89890"/>
                  </a:cubicBezTo>
                  <a:cubicBezTo>
                    <a:pt x="0" y="89890"/>
                    <a:pt x="257" y="102021"/>
                    <a:pt x="1372" y="120000"/>
                  </a:cubicBezTo>
                  <a:cubicBezTo>
                    <a:pt x="118627" y="120000"/>
                    <a:pt x="118627" y="120000"/>
                    <a:pt x="118627" y="120000"/>
                  </a:cubicBezTo>
                  <a:cubicBezTo>
                    <a:pt x="119742" y="102021"/>
                    <a:pt x="119999" y="89890"/>
                    <a:pt x="119999" y="89890"/>
                  </a:cubicBezTo>
                  <a:cubicBezTo>
                    <a:pt x="119999" y="54226"/>
                    <a:pt x="118241" y="24555"/>
                    <a:pt x="115325" y="0"/>
                  </a:cubicBezTo>
                  <a:lnTo>
                    <a:pt x="4631" y="0"/>
                  </a:lnTo>
                  <a:close/>
                </a:path>
              </a:pathLst>
            </a:custGeom>
            <a:solidFill>
              <a:srgbClr val="EDA005"/>
            </a:solidFill>
            <a:ln w="9525" cap="flat" cmpd="sng">
              <a:solidFill>
                <a:schemeClr val="l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Shape 2321"/>
            <p:cNvSpPr/>
            <p:nvPr/>
          </p:nvSpPr>
          <p:spPr>
            <a:xfrm>
              <a:off x="3736975" y="2729716"/>
              <a:ext cx="1660525" cy="4984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cubicBezTo>
                    <a:pt x="1755" y="27771"/>
                    <a:pt x="5662" y="69135"/>
                    <a:pt x="14089" y="101144"/>
                  </a:cubicBezTo>
                  <a:cubicBezTo>
                    <a:pt x="15844" y="107722"/>
                    <a:pt x="17293" y="114007"/>
                    <a:pt x="18566" y="120000"/>
                  </a:cubicBezTo>
                  <a:cubicBezTo>
                    <a:pt x="101433" y="120000"/>
                    <a:pt x="101433" y="120000"/>
                    <a:pt x="101433" y="120000"/>
                  </a:cubicBezTo>
                  <a:cubicBezTo>
                    <a:pt x="102706" y="114007"/>
                    <a:pt x="104155" y="107722"/>
                    <a:pt x="105910" y="101144"/>
                  </a:cubicBezTo>
                  <a:cubicBezTo>
                    <a:pt x="114337" y="69135"/>
                    <a:pt x="118244" y="27771"/>
                    <a:pt x="12000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9505"/>
            </a:solidFill>
            <a:ln w="9525" cap="flat" cmpd="sng">
              <a:solidFill>
                <a:schemeClr val="l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Shape 2322"/>
            <p:cNvSpPr/>
            <p:nvPr/>
          </p:nvSpPr>
          <p:spPr>
            <a:xfrm>
              <a:off x="3994150" y="3228191"/>
              <a:ext cx="1146174" cy="49847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0529" y="68404"/>
                  </a:moveTo>
                  <a:cubicBezTo>
                    <a:pt x="110529" y="68404"/>
                    <a:pt x="107288" y="41948"/>
                    <a:pt x="12000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648" y="41948"/>
                    <a:pt x="9470" y="68404"/>
                    <a:pt x="9470" y="68404"/>
                  </a:cubicBezTo>
                  <a:cubicBezTo>
                    <a:pt x="9470" y="68404"/>
                    <a:pt x="5720" y="114591"/>
                    <a:pt x="20211" y="120000"/>
                  </a:cubicBezTo>
                  <a:cubicBezTo>
                    <a:pt x="60000" y="120000"/>
                    <a:pt x="60000" y="120000"/>
                    <a:pt x="60000" y="120000"/>
                  </a:cubicBezTo>
                  <a:cubicBezTo>
                    <a:pt x="99788" y="120000"/>
                    <a:pt x="99788" y="120000"/>
                    <a:pt x="99788" y="120000"/>
                  </a:cubicBezTo>
                  <a:cubicBezTo>
                    <a:pt x="114279" y="114591"/>
                    <a:pt x="110529" y="68404"/>
                    <a:pt x="110529" y="68404"/>
                  </a:cubicBezTo>
                  <a:close/>
                </a:path>
              </a:pathLst>
            </a:custGeom>
            <a:solidFill>
              <a:srgbClr val="697D91"/>
            </a:solidFill>
            <a:ln w="9525" cap="flat" cmpd="sng">
              <a:solidFill>
                <a:schemeClr val="l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Shape 2324"/>
            <p:cNvSpPr txBox="1"/>
            <p:nvPr/>
          </p:nvSpPr>
          <p:spPr>
            <a:xfrm>
              <a:off x="3857625" y="2395350"/>
              <a:ext cx="1428749" cy="179535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algn="ctr">
                <a:lnSpc>
                  <a:spcPct val="127272"/>
                </a:lnSpc>
                <a:spcAft>
                  <a:spcPts val="1200"/>
                </a:spcAft>
                <a:buSzPct val="25000"/>
              </a:pPr>
              <a:endParaRPr lang="en-US" sz="11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9" name="Shape 2325"/>
            <p:cNvSpPr txBox="1"/>
            <p:nvPr/>
          </p:nvSpPr>
          <p:spPr>
            <a:xfrm>
              <a:off x="3973512" y="2889680"/>
              <a:ext cx="1196976" cy="179535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algn="ctr">
                <a:lnSpc>
                  <a:spcPct val="127272"/>
                </a:lnSpc>
                <a:spcAft>
                  <a:spcPts val="1200"/>
                </a:spcAft>
                <a:buSzPct val="25000"/>
              </a:pPr>
              <a:endParaRPr lang="en-US" sz="11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21" name="Shape 2327"/>
            <p:cNvGrpSpPr/>
            <p:nvPr/>
          </p:nvGrpSpPr>
          <p:grpSpPr>
            <a:xfrm>
              <a:off x="4198620" y="3767942"/>
              <a:ext cx="738825" cy="728657"/>
              <a:chOff x="4178498" y="3597275"/>
              <a:chExt cx="779068" cy="768348"/>
            </a:xfrm>
          </p:grpSpPr>
          <p:sp>
            <p:nvSpPr>
              <p:cNvPr id="22" name="Shape 2328"/>
              <p:cNvSpPr/>
              <p:nvPr/>
            </p:nvSpPr>
            <p:spPr>
              <a:xfrm>
                <a:off x="4181475" y="3597275"/>
                <a:ext cx="773113" cy="138112"/>
              </a:xfrm>
              <a:prstGeom prst="rect">
                <a:avLst/>
              </a:prstGeom>
              <a:solidFill>
                <a:srgbClr val="7F7F7F"/>
              </a:solidFill>
              <a:ln w="1270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endParaRPr sz="13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Shape 2329"/>
              <p:cNvSpPr/>
              <p:nvPr/>
            </p:nvSpPr>
            <p:spPr>
              <a:xfrm>
                <a:off x="4238625" y="3735387"/>
                <a:ext cx="644524" cy="384174"/>
              </a:xfrm>
              <a:prstGeom prst="rect">
                <a:avLst/>
              </a:prstGeom>
              <a:solidFill>
                <a:srgbClr val="7F7F7F"/>
              </a:solidFill>
              <a:ln w="1270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endParaRPr sz="13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Shape 2330"/>
              <p:cNvSpPr/>
              <p:nvPr/>
            </p:nvSpPr>
            <p:spPr>
              <a:xfrm>
                <a:off x="4213225" y="3744912"/>
                <a:ext cx="695325" cy="139699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4506" y="119999"/>
                    </a:moveTo>
                    <a:cubicBezTo>
                      <a:pt x="2410" y="119999"/>
                      <a:pt x="628" y="112663"/>
                      <a:pt x="314" y="102183"/>
                    </a:cubicBezTo>
                    <a:cubicBezTo>
                      <a:pt x="0" y="90655"/>
                      <a:pt x="1572" y="80174"/>
                      <a:pt x="3877" y="78602"/>
                    </a:cubicBezTo>
                    <a:cubicBezTo>
                      <a:pt x="115074" y="1572"/>
                      <a:pt x="115074" y="1572"/>
                      <a:pt x="115074" y="1572"/>
                    </a:cubicBezTo>
                    <a:cubicBezTo>
                      <a:pt x="117275" y="0"/>
                      <a:pt x="119371" y="7860"/>
                      <a:pt x="119685" y="19388"/>
                    </a:cubicBezTo>
                    <a:cubicBezTo>
                      <a:pt x="120000" y="30917"/>
                      <a:pt x="118427" y="41397"/>
                      <a:pt x="116227" y="42969"/>
                    </a:cubicBezTo>
                    <a:cubicBezTo>
                      <a:pt x="5030" y="119999"/>
                      <a:pt x="5030" y="119999"/>
                      <a:pt x="5030" y="119999"/>
                    </a:cubicBezTo>
                    <a:cubicBezTo>
                      <a:pt x="4820" y="119999"/>
                      <a:pt x="4611" y="119999"/>
                      <a:pt x="4506" y="119999"/>
                    </a:cubicBezTo>
                    <a:close/>
                  </a:path>
                </a:pathLst>
              </a:custGeom>
              <a:solidFill>
                <a:srgbClr val="7F7F7F"/>
              </a:solidFill>
              <a:ln w="1270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endParaRPr sz="13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Shape 2331"/>
              <p:cNvSpPr/>
              <p:nvPr/>
            </p:nvSpPr>
            <p:spPr>
              <a:xfrm>
                <a:off x="4213225" y="3857625"/>
                <a:ext cx="695325" cy="138112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4506" y="119999"/>
                    </a:moveTo>
                    <a:cubicBezTo>
                      <a:pt x="2410" y="119999"/>
                      <a:pt x="628" y="112663"/>
                      <a:pt x="314" y="102183"/>
                    </a:cubicBezTo>
                    <a:cubicBezTo>
                      <a:pt x="0" y="90655"/>
                      <a:pt x="1572" y="80174"/>
                      <a:pt x="3877" y="78602"/>
                    </a:cubicBezTo>
                    <a:cubicBezTo>
                      <a:pt x="115074" y="1572"/>
                      <a:pt x="115074" y="1572"/>
                      <a:pt x="115074" y="1572"/>
                    </a:cubicBezTo>
                    <a:cubicBezTo>
                      <a:pt x="117275" y="0"/>
                      <a:pt x="119371" y="7860"/>
                      <a:pt x="119685" y="19388"/>
                    </a:cubicBezTo>
                    <a:cubicBezTo>
                      <a:pt x="120000" y="30917"/>
                      <a:pt x="118427" y="41397"/>
                      <a:pt x="116227" y="42969"/>
                    </a:cubicBezTo>
                    <a:cubicBezTo>
                      <a:pt x="5030" y="119999"/>
                      <a:pt x="5030" y="119999"/>
                      <a:pt x="5030" y="119999"/>
                    </a:cubicBezTo>
                    <a:cubicBezTo>
                      <a:pt x="4820" y="119999"/>
                      <a:pt x="4611" y="119999"/>
                      <a:pt x="4506" y="119999"/>
                    </a:cubicBezTo>
                    <a:close/>
                  </a:path>
                </a:pathLst>
              </a:custGeom>
              <a:solidFill>
                <a:srgbClr val="7F7F7F"/>
              </a:solidFill>
              <a:ln w="1270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endParaRPr sz="13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Shape 2332"/>
              <p:cNvSpPr/>
              <p:nvPr/>
            </p:nvSpPr>
            <p:spPr>
              <a:xfrm>
                <a:off x="4213225" y="3968750"/>
                <a:ext cx="695325" cy="139699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4506" y="120000"/>
                    </a:moveTo>
                    <a:cubicBezTo>
                      <a:pt x="2410" y="120000"/>
                      <a:pt x="628" y="112173"/>
                      <a:pt x="314" y="101739"/>
                    </a:cubicBezTo>
                    <a:cubicBezTo>
                      <a:pt x="0" y="90782"/>
                      <a:pt x="1572" y="80347"/>
                      <a:pt x="3877" y="78260"/>
                    </a:cubicBezTo>
                    <a:cubicBezTo>
                      <a:pt x="115074" y="1565"/>
                      <a:pt x="115074" y="1565"/>
                      <a:pt x="115074" y="1565"/>
                    </a:cubicBezTo>
                    <a:cubicBezTo>
                      <a:pt x="117275" y="0"/>
                      <a:pt x="119371" y="7826"/>
                      <a:pt x="119685" y="19304"/>
                    </a:cubicBezTo>
                    <a:cubicBezTo>
                      <a:pt x="120000" y="30782"/>
                      <a:pt x="118427" y="41217"/>
                      <a:pt x="116227" y="42782"/>
                    </a:cubicBezTo>
                    <a:cubicBezTo>
                      <a:pt x="5030" y="119478"/>
                      <a:pt x="5030" y="119478"/>
                      <a:pt x="5030" y="119478"/>
                    </a:cubicBezTo>
                    <a:cubicBezTo>
                      <a:pt x="4820" y="119478"/>
                      <a:pt x="4611" y="120000"/>
                      <a:pt x="4506" y="120000"/>
                    </a:cubicBezTo>
                    <a:close/>
                  </a:path>
                </a:pathLst>
              </a:custGeom>
              <a:solidFill>
                <a:srgbClr val="7F7F7F"/>
              </a:solidFill>
              <a:ln w="1270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endParaRPr sz="13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Shape 2333"/>
              <p:cNvSpPr/>
              <p:nvPr/>
            </p:nvSpPr>
            <p:spPr>
              <a:xfrm>
                <a:off x="4178498" y="4116387"/>
                <a:ext cx="779068" cy="249236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15049" y="28507"/>
                    </a:lnTo>
                    <a:cubicBezTo>
                      <a:pt x="103119" y="83707"/>
                      <a:pt x="82915" y="120000"/>
                      <a:pt x="59999" y="120000"/>
                    </a:cubicBezTo>
                    <a:cubicBezTo>
                      <a:pt x="37084" y="120000"/>
                      <a:pt x="16880" y="83707"/>
                      <a:pt x="4950" y="2850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7F7F"/>
              </a:solidFill>
              <a:ln w="12700" cap="flat" cmpd="sng">
                <a:solidFill>
                  <a:schemeClr val="l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91425" tIns="45700" rIns="91425" bIns="45700" anchor="ctr" anchorCtr="0">
                <a:noAutofit/>
              </a:bodyPr>
              <a:lstStyle/>
              <a:p>
                <a:pPr algn="ctr"/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99509" y="389405"/>
            <a:ext cx="1466082" cy="2488823"/>
          </a:xfrm>
          <a:prstGeom prst="rect">
            <a:avLst/>
          </a:prstGeom>
        </p:spPr>
      </p:pic>
      <p:pic>
        <p:nvPicPr>
          <p:cNvPr id="70" name="Рисунок 6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20" y="1785591"/>
            <a:ext cx="1390946" cy="218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357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526211" y="1117414"/>
            <a:ext cx="82836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kern="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rtl val="0"/>
              </a:rPr>
              <a:t>Для этого были </a:t>
            </a:r>
            <a:r>
              <a:rPr lang="ru-RU" sz="1600" b="1" kern="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rtl val="0"/>
              </a:rPr>
              <a:t>сформированы исходные данные для подготовки базы данных </a:t>
            </a:r>
            <a:r>
              <a:rPr lang="ru-RU" sz="1600" b="1" kern="0" dirty="0" smtClean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rtl val="0"/>
              </a:rPr>
              <a:t>программного модуля</a:t>
            </a:r>
          </a:p>
          <a:p>
            <a:pPr>
              <a:spcBef>
                <a:spcPts val="600"/>
              </a:spcBef>
            </a:pPr>
            <a:r>
              <a:rPr lang="ru-RU" sz="1100" kern="0" dirty="0" smtClean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rtl val="0"/>
              </a:rPr>
              <a:t>Схематичное отображение базы данных для отражения принципа работы:</a:t>
            </a:r>
            <a:endParaRPr lang="ru-RU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3849" y="535848"/>
            <a:ext cx="7567541" cy="687386"/>
          </a:xfr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pPr defTabSz="990595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SzPct val="25000"/>
            </a:pPr>
            <a:r>
              <a:rPr lang="ru-RU" sz="1600" b="0" kern="0" dirty="0">
                <a:solidFill>
                  <a:srgbClr val="000000"/>
                </a:solidFill>
                <a:rtl val="0"/>
              </a:rPr>
              <a:t>Для разработки программного модуля необходимо было подготовить базу данных </a:t>
            </a:r>
            <a:r>
              <a:rPr lang="ru-RU" sz="1600" b="0" kern="0" dirty="0" smtClean="0">
                <a:solidFill>
                  <a:srgbClr val="000000"/>
                </a:solidFill>
                <a:rtl val="0"/>
              </a:rPr>
              <a:t>с ресурсами для </a:t>
            </a:r>
            <a:r>
              <a:rPr lang="ru-RU" sz="1600" b="0" kern="0" dirty="0">
                <a:solidFill>
                  <a:srgbClr val="000000"/>
                </a:solidFill>
                <a:rtl val="0"/>
              </a:rPr>
              <a:t>проектирования каждого здания и сооружения</a:t>
            </a:r>
            <a:br>
              <a:rPr lang="ru-RU" sz="1600" b="0" kern="0" dirty="0">
                <a:solidFill>
                  <a:srgbClr val="000000"/>
                </a:solidFill>
                <a:rtl val="0"/>
              </a:rPr>
            </a:br>
            <a:endParaRPr lang="ru-RU" sz="1600" kern="0" dirty="0">
              <a:solidFill>
                <a:srgbClr val="000000"/>
              </a:solidFill>
              <a:rtl val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90096" y="2362005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*</a:t>
            </a:r>
            <a:endParaRPr lang="ru-RU" sz="14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672" y="2499264"/>
            <a:ext cx="1553882" cy="2383511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926" y="1804800"/>
            <a:ext cx="5944604" cy="49753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4568" y="5745132"/>
            <a:ext cx="4693423" cy="76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1" i="1" dirty="0" smtClean="0">
                <a:latin typeface="Lato"/>
              </a:rPr>
              <a:t>- </a:t>
            </a:r>
            <a:r>
              <a:rPr lang="ru-RU" sz="1050" b="1" i="1" dirty="0" smtClean="0">
                <a:latin typeface="Lato"/>
              </a:rPr>
              <a:t>ресурсы для проектирования указаны для разработки рабочей документации в соответствии с графиками 2го уровня.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50" b="1" i="1" dirty="0" smtClean="0">
                <a:latin typeface="Lato"/>
              </a:rPr>
              <a:t>- ресурсы на слайде указаны справочно.</a:t>
            </a:r>
            <a:endParaRPr lang="ru-RU" sz="1050" b="1" i="1" dirty="0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59868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428007" y="155276"/>
            <a:ext cx="1406105" cy="13370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430977" y="1222679"/>
            <a:ext cx="9403135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1950">
              <a:buFont typeface="Arial" panose="020B0604020202020204" pitchFamily="34" charset="0"/>
              <a:buChar char="•"/>
            </a:pPr>
            <a:r>
              <a:rPr lang="ru-RU" dirty="0" smtClean="0"/>
              <a:t>Ресурсы для разработки* </a:t>
            </a:r>
            <a:r>
              <a:rPr lang="ru-RU" b="1" i="1" dirty="0"/>
              <a:t>рабочей </a:t>
            </a:r>
            <a:r>
              <a:rPr lang="ru-RU" b="1" i="1" dirty="0" smtClean="0"/>
              <a:t>документации </a:t>
            </a:r>
            <a:r>
              <a:rPr lang="ru-RU" dirty="0"/>
              <a:t>для объекта </a:t>
            </a:r>
            <a:r>
              <a:rPr lang="ru-RU" dirty="0" smtClean="0"/>
              <a:t>рассчитывались в соответствии с графиками 2 уровня.</a:t>
            </a:r>
            <a:endParaRPr lang="ru-RU" dirty="0"/>
          </a:p>
          <a:p>
            <a:r>
              <a:rPr lang="ru-RU" u="sng" dirty="0"/>
              <a:t>Для площадных объектов </a:t>
            </a:r>
            <a:r>
              <a:rPr lang="ru-RU" dirty="0" smtClean="0"/>
              <a:t>ресурсы для </a:t>
            </a:r>
            <a:r>
              <a:rPr lang="ru-RU" dirty="0"/>
              <a:t>разработки </a:t>
            </a:r>
            <a:r>
              <a:rPr lang="ru-RU" dirty="0" smtClean="0"/>
              <a:t>каждого сооружения объединялись, </a:t>
            </a:r>
            <a:r>
              <a:rPr lang="ru-RU" dirty="0"/>
              <a:t>для этапа выводился общий ресурс. </a:t>
            </a:r>
            <a:endParaRPr lang="ru-RU" dirty="0" smtClean="0"/>
          </a:p>
          <a:p>
            <a:r>
              <a:rPr lang="ru-RU" u="sng" dirty="0" smtClean="0"/>
              <a:t>Для </a:t>
            </a:r>
            <a:r>
              <a:rPr lang="ru-RU" u="sng" dirty="0"/>
              <a:t>линейных объектов </a:t>
            </a:r>
            <a:r>
              <a:rPr lang="ru-RU" dirty="0" smtClean="0"/>
              <a:t>для </a:t>
            </a:r>
            <a:r>
              <a:rPr lang="ru-RU" dirty="0"/>
              <a:t>разработки по каждому сооружению для этапа брался </a:t>
            </a:r>
            <a:r>
              <a:rPr lang="ru-RU" dirty="0" smtClean="0"/>
              <a:t>наибольший ресурс, </a:t>
            </a:r>
            <a:r>
              <a:rPr lang="ru-RU" dirty="0"/>
              <a:t>в том числе с учетом площадных сооружений в </a:t>
            </a:r>
            <a:r>
              <a:rPr lang="ru-RU" dirty="0" smtClean="0"/>
              <a:t>составе,</a:t>
            </a:r>
          </a:p>
          <a:p>
            <a:r>
              <a:rPr lang="ru-RU" dirty="0"/>
              <a:t>ввиду параллельной проработки сооружений </a:t>
            </a:r>
            <a:r>
              <a:rPr lang="ru-RU" dirty="0" smtClean="0"/>
              <a:t>проектными отделами</a:t>
            </a:r>
            <a:r>
              <a:rPr lang="ru-RU" dirty="0"/>
              <a:t>. </a:t>
            </a:r>
            <a:r>
              <a:rPr lang="ru-RU" dirty="0" smtClean="0"/>
              <a:t>Также при расчете </a:t>
            </a:r>
            <a:r>
              <a:rPr lang="ru-RU" dirty="0"/>
              <a:t>учитывались ресурсы необходимые для обмена заданиями между </a:t>
            </a:r>
            <a:r>
              <a:rPr lang="ru-RU" dirty="0" smtClean="0"/>
              <a:t>отделами, взятые в соответствии с графиками 2 уровня.***</a:t>
            </a:r>
            <a:endParaRPr lang="ru-RU" dirty="0"/>
          </a:p>
          <a:p>
            <a:endParaRPr lang="ru-RU" dirty="0"/>
          </a:p>
          <a:p>
            <a:pPr indent="266700">
              <a:buFont typeface="Arial" panose="020B0604020202020204" pitchFamily="34" charset="0"/>
              <a:buChar char="•"/>
            </a:pPr>
            <a:r>
              <a:rPr lang="ru-RU" dirty="0"/>
              <a:t>Расчет </a:t>
            </a:r>
            <a:r>
              <a:rPr lang="ru-RU" dirty="0" smtClean="0"/>
              <a:t>ресурсов для </a:t>
            </a:r>
            <a:r>
              <a:rPr lang="ru-RU" dirty="0"/>
              <a:t>разработки </a:t>
            </a:r>
            <a:r>
              <a:rPr lang="ru-RU" b="1" i="1" dirty="0"/>
              <a:t>проектной </a:t>
            </a:r>
            <a:r>
              <a:rPr lang="ru-RU" b="1" i="1" dirty="0" smtClean="0"/>
              <a:t>документации** </a:t>
            </a:r>
            <a:r>
              <a:rPr lang="ru-RU" dirty="0" smtClean="0"/>
              <a:t>выполнялся также на основании графиков 2 </a:t>
            </a:r>
            <a:r>
              <a:rPr lang="ru-RU" dirty="0"/>
              <a:t>уровня, </a:t>
            </a:r>
            <a:r>
              <a:rPr lang="ru-RU" dirty="0" smtClean="0"/>
              <a:t>с учетом того, что проектная </a:t>
            </a:r>
            <a:r>
              <a:rPr lang="ru-RU" dirty="0"/>
              <a:t>документация разрабатывается на каждый объект комплектом </a:t>
            </a:r>
            <a:r>
              <a:rPr lang="ru-RU" dirty="0" smtClean="0"/>
              <a:t>томов. В случае </a:t>
            </a:r>
            <a:r>
              <a:rPr lang="ru-RU" dirty="0"/>
              <a:t>нескольких сооружений в составе объекта, брался наибольший </a:t>
            </a:r>
            <a:r>
              <a:rPr lang="ru-RU" dirty="0" smtClean="0"/>
              <a:t>ресурс, </a:t>
            </a:r>
            <a:r>
              <a:rPr lang="ru-RU" dirty="0"/>
              <a:t>учитывая параллельную разработку томов </a:t>
            </a:r>
            <a:r>
              <a:rPr lang="ru-RU" dirty="0" smtClean="0"/>
              <a:t>отделами и обмен заданиями между отделами.</a:t>
            </a:r>
            <a:endParaRPr lang="ru-RU" dirty="0"/>
          </a:p>
          <a:p>
            <a:endParaRPr lang="ru-RU" dirty="0"/>
          </a:p>
          <a:p>
            <a:r>
              <a:rPr lang="ru-RU" sz="1600" i="1" dirty="0" smtClean="0"/>
              <a:t>* - </a:t>
            </a:r>
            <a:r>
              <a:rPr lang="ru-RU" sz="1600" i="1" dirty="0"/>
              <a:t>ресурсы </a:t>
            </a:r>
            <a:r>
              <a:rPr lang="ru-RU" sz="1600" i="1" dirty="0" smtClean="0"/>
              <a:t>рассчитывались </a:t>
            </a:r>
            <a:r>
              <a:rPr lang="ru-RU" sz="1600" i="1" dirty="0"/>
              <a:t>исходя из занятости проектом </a:t>
            </a:r>
            <a:r>
              <a:rPr lang="ru-RU" sz="1600" i="1" dirty="0" smtClean="0"/>
              <a:t>одного исполнителя. </a:t>
            </a:r>
          </a:p>
          <a:p>
            <a:r>
              <a:rPr lang="ru-RU" sz="1600" i="1" dirty="0" smtClean="0"/>
              <a:t>** - под </a:t>
            </a:r>
            <a:r>
              <a:rPr lang="ru-RU" sz="1600" i="1" dirty="0"/>
              <a:t>ПД подразумевается разработка пояснительных записок, разработка графических материалов отнесена к РД</a:t>
            </a:r>
            <a:r>
              <a:rPr lang="ru-RU" sz="1600" i="1" dirty="0" smtClean="0"/>
              <a:t>.</a:t>
            </a:r>
          </a:p>
          <a:p>
            <a:r>
              <a:rPr lang="ru-RU" sz="1600" i="1" dirty="0" smtClean="0"/>
              <a:t>*** - отсчет ресурсов для ПД и РД принят с даты получения отчета ИИ</a:t>
            </a:r>
            <a:endParaRPr lang="ru-RU" sz="1600" i="1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9705"/>
            <a:ext cx="7409493" cy="728236"/>
          </a:xfrm>
        </p:spPr>
        <p:txBody>
          <a:bodyPr/>
          <a:lstStyle/>
          <a:p>
            <a:pPr algn="ctr"/>
            <a:r>
              <a:rPr lang="ru-RU" dirty="0" smtClean="0"/>
              <a:t>Расчет ресурсов для разработки документации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9626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2694" y="1708031"/>
            <a:ext cx="932515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buFont typeface="Arial" panose="020B0604020202020204" pitchFamily="34" charset="0"/>
              <a:buChar char="•"/>
            </a:pPr>
            <a:r>
              <a:rPr lang="ru-RU" dirty="0"/>
              <a:t>Ресурсы на выполнение </a:t>
            </a:r>
            <a:r>
              <a:rPr lang="ru-RU" b="1" dirty="0"/>
              <a:t>инженерных изысканий </a:t>
            </a:r>
            <a:r>
              <a:rPr lang="ru-RU" dirty="0"/>
              <a:t>рассчитывались в соответствии с НТД и нормой полевой выработки изыскателей, с учетом времени согласования предварительных ИИ и актов</a:t>
            </a:r>
            <a:r>
              <a:rPr lang="ru-RU" dirty="0" smtClean="0"/>
              <a:t>.</a:t>
            </a:r>
          </a:p>
          <a:p>
            <a:pPr indent="266700">
              <a:buFont typeface="Arial" panose="020B0604020202020204" pitchFamily="34" charset="0"/>
              <a:buChar char="•"/>
            </a:pPr>
            <a:endParaRPr lang="ru-RU" dirty="0"/>
          </a:p>
          <a:p>
            <a:pPr indent="266700">
              <a:buFont typeface="Arial" panose="020B0604020202020204" pitchFamily="34" charset="0"/>
              <a:buChar char="•"/>
            </a:pPr>
            <a:r>
              <a:rPr lang="ru-RU" dirty="0" smtClean="0"/>
              <a:t>В сервисе календарного планирования учтены стандартные сроки согласования документации (</a:t>
            </a:r>
            <a:r>
              <a:rPr lang="ru-RU" dirty="0"/>
              <a:t>без </a:t>
            </a:r>
            <a:r>
              <a:rPr lang="ru-RU" dirty="0" smtClean="0"/>
              <a:t>поправки на ведомственную экспертизу </a:t>
            </a:r>
            <a:r>
              <a:rPr lang="ru-RU" dirty="0"/>
              <a:t>и </a:t>
            </a:r>
            <a:r>
              <a:rPr lang="ru-RU" dirty="0" err="1" smtClean="0"/>
              <a:t>стройконтроль</a:t>
            </a:r>
            <a:r>
              <a:rPr lang="ru-RU" dirty="0" smtClean="0"/>
              <a:t>):</a:t>
            </a:r>
          </a:p>
          <a:p>
            <a:pPr indent="449263"/>
            <a:r>
              <a:rPr lang="ru-RU" dirty="0" smtClean="0"/>
              <a:t>отчетов ИИ – 60 дней; </a:t>
            </a:r>
          </a:p>
          <a:p>
            <a:pPr indent="449263"/>
            <a:r>
              <a:rPr lang="ru-RU" dirty="0" smtClean="0"/>
              <a:t>РД и СД – 60 дней;</a:t>
            </a:r>
          </a:p>
          <a:p>
            <a:pPr indent="449263"/>
            <a:r>
              <a:rPr lang="ru-RU" dirty="0" smtClean="0"/>
              <a:t>ПД – 90 дней.</a:t>
            </a:r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0" y="459705"/>
            <a:ext cx="7409493" cy="728236"/>
          </a:xfrm>
        </p:spPr>
        <p:txBody>
          <a:bodyPr/>
          <a:lstStyle/>
          <a:p>
            <a:pPr algn="ctr"/>
            <a:r>
              <a:rPr lang="ru-RU" dirty="0" smtClean="0"/>
              <a:t>Расчет ресурсов для разработки документации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8461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Блок-схема: объединение 18"/>
          <p:cNvSpPr/>
          <p:nvPr/>
        </p:nvSpPr>
        <p:spPr>
          <a:xfrm rot="16200000">
            <a:off x="2043921" y="1896821"/>
            <a:ext cx="338505" cy="229872"/>
          </a:xfrm>
          <a:prstGeom prst="flowChartMerge">
            <a:avLst/>
          </a:prstGeom>
          <a:solidFill>
            <a:schemeClr val="tx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Блок-схема: объединение 19"/>
          <p:cNvSpPr/>
          <p:nvPr/>
        </p:nvSpPr>
        <p:spPr>
          <a:xfrm rot="16200000">
            <a:off x="4440453" y="1896821"/>
            <a:ext cx="338505" cy="229872"/>
          </a:xfrm>
          <a:prstGeom prst="flowChartMerge">
            <a:avLst/>
          </a:prstGeom>
          <a:solidFill>
            <a:schemeClr val="tx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Shape 1852"/>
          <p:cNvSpPr/>
          <p:nvPr/>
        </p:nvSpPr>
        <p:spPr>
          <a:xfrm rot="9163076">
            <a:off x="6862995" y="2654907"/>
            <a:ext cx="2754057" cy="214107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985" y="64680"/>
                </a:moveTo>
                <a:lnTo>
                  <a:pt x="4985" y="64680"/>
                </a:lnTo>
                <a:cubicBezTo>
                  <a:pt x="3682" y="49360"/>
                  <a:pt x="8826" y="34190"/>
                  <a:pt x="19179" y="22822"/>
                </a:cubicBezTo>
                <a:lnTo>
                  <a:pt x="16020" y="19255"/>
                </a:lnTo>
                <a:lnTo>
                  <a:pt x="25770" y="21357"/>
                </a:lnTo>
                <a:lnTo>
                  <a:pt x="27129" y="31797"/>
                </a:lnTo>
                <a:lnTo>
                  <a:pt x="23972" y="28233"/>
                </a:lnTo>
                <a:lnTo>
                  <a:pt x="23972" y="28233"/>
                </a:lnTo>
                <a:cubicBezTo>
                  <a:pt x="15303" y="38064"/>
                  <a:pt x="11029" y="51011"/>
                  <a:pt x="12140" y="64071"/>
                </a:cubicBezTo>
                <a:close/>
              </a:path>
            </a:pathLst>
          </a:custGeom>
          <a:solidFill>
            <a:schemeClr val="tx1"/>
          </a:solidFill>
          <a:ln w="127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lIns="91425" tIns="91425" rIns="91425" bIns="91425" anchor="ctr" anchorCtr="0">
            <a:noAutofit/>
          </a:bodyPr>
          <a:lstStyle/>
          <a:p>
            <a:pPr defTabSz="914423">
              <a:defRPr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33" name="Блок-схема: объединение 32"/>
          <p:cNvSpPr/>
          <p:nvPr/>
        </p:nvSpPr>
        <p:spPr>
          <a:xfrm rot="16200000">
            <a:off x="7363152" y="1888861"/>
            <a:ext cx="338505" cy="229872"/>
          </a:xfrm>
          <a:prstGeom prst="flowChartMerge">
            <a:avLst/>
          </a:prstGeom>
          <a:solidFill>
            <a:schemeClr val="tx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/>
          <p:cNvSpPr txBox="1"/>
          <p:nvPr/>
        </p:nvSpPr>
        <p:spPr>
          <a:xfrm>
            <a:off x="1814437" y="1543124"/>
            <a:ext cx="7008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ambria" panose="02040503050406030204" pitchFamily="18" charset="0"/>
                <a:ea typeface="Cambria" panose="02040503050406030204" pitchFamily="18" charset="0"/>
              </a:rPr>
              <a:t>«Далее»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84588" y="1520345"/>
            <a:ext cx="7008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ambria" panose="02040503050406030204" pitchFamily="18" charset="0"/>
                <a:ea typeface="Cambria" panose="02040503050406030204" pitchFamily="18" charset="0"/>
              </a:rPr>
              <a:t>«Далее»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6871" y="1186022"/>
            <a:ext cx="122020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100" dirty="0" smtClean="0">
                <a:latin typeface="Cambria" panose="02040503050406030204" pitchFamily="18" charset="0"/>
                <a:ea typeface="Cambria" panose="02040503050406030204" pitchFamily="18" charset="0"/>
              </a:rPr>
              <a:t>«Сгенерировать</a:t>
            </a:r>
            <a:endParaRPr lang="ru-RU" sz="1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ru-RU" sz="1100" dirty="0" smtClean="0">
                <a:latin typeface="Cambria" panose="02040503050406030204" pitchFamily="18" charset="0"/>
                <a:ea typeface="Cambria" panose="02040503050406030204" pitchFamily="18" charset="0"/>
              </a:rPr>
              <a:t>календарный </a:t>
            </a:r>
            <a:endParaRPr lang="ru-RU" sz="1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ru-RU" sz="1100" dirty="0">
                <a:latin typeface="Cambria" panose="02040503050406030204" pitchFamily="18" charset="0"/>
                <a:ea typeface="Cambria" panose="02040503050406030204" pitchFamily="18" charset="0"/>
              </a:rPr>
              <a:t>план»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373" y="1520644"/>
            <a:ext cx="16482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/>
              <a:t>Выбор типа сооружения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90022" y="1526266"/>
            <a:ext cx="18742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/>
              <a:t>Выбор подтипа сооружения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97888" y="1528932"/>
            <a:ext cx="20938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/>
              <a:t>Выбор параметров сооружения</a:t>
            </a:r>
          </a:p>
        </p:txBody>
      </p:sp>
      <p:sp>
        <p:nvSpPr>
          <p:cNvPr id="37" name="Прямоугольник 36"/>
          <p:cNvSpPr/>
          <p:nvPr/>
        </p:nvSpPr>
        <p:spPr>
          <a:xfrm>
            <a:off x="590753" y="99408"/>
            <a:ext cx="7991932" cy="5700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0726" y="384452"/>
            <a:ext cx="7399700" cy="68738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b="0" kern="0" dirty="0" smtClean="0">
                <a:solidFill>
                  <a:srgbClr val="464646"/>
                </a:solidFill>
                <a:latin typeface="Lato"/>
                <a:ea typeface="Lato"/>
                <a:cs typeface="Lato"/>
                <a:rtl val="0"/>
              </a:rPr>
              <a:t>Принцип работы сервиса календарного планирования:</a:t>
            </a:r>
            <a:endParaRPr lang="ru-RU" sz="2000" b="0" kern="0" dirty="0">
              <a:solidFill>
                <a:srgbClr val="464646"/>
              </a:solidFill>
              <a:latin typeface="Lato"/>
              <a:ea typeface="Lato"/>
              <a:cs typeface="Lato"/>
              <a:rtl val="0"/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407508" y="966591"/>
            <a:ext cx="3651288" cy="45719"/>
          </a:xfrm>
          <a:prstGeom prst="rect">
            <a:avLst/>
          </a:prstGeom>
          <a:solidFill>
            <a:srgbClr val="FA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/>
            <a:endParaRPr lang="ru-RU" sz="1463" dirty="0">
              <a:solidFill>
                <a:prstClr val="white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146" y="1828875"/>
            <a:ext cx="1174992" cy="78801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191" y="1827585"/>
            <a:ext cx="1206972" cy="795012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092" y="2725786"/>
            <a:ext cx="1205202" cy="793846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5117" y="2725786"/>
            <a:ext cx="1205203" cy="793846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630" y="3632266"/>
            <a:ext cx="1205202" cy="627859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4942" y="3622821"/>
            <a:ext cx="1283386" cy="96804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416" y="1821592"/>
            <a:ext cx="1834115" cy="1877784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89707" y="1842503"/>
            <a:ext cx="1796263" cy="1343605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0645" y="1823912"/>
            <a:ext cx="1920753" cy="1148199"/>
          </a:xfrm>
          <a:prstGeom prst="rect">
            <a:avLst/>
          </a:prstGeom>
        </p:spPr>
      </p:pic>
      <p:pic>
        <p:nvPicPr>
          <p:cNvPr id="39" name="Рисунок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86920" y="4053255"/>
            <a:ext cx="2179608" cy="538870"/>
          </a:xfrm>
          <a:prstGeom prst="rect">
            <a:avLst/>
          </a:prstGeom>
        </p:spPr>
      </p:pic>
      <p:pic>
        <p:nvPicPr>
          <p:cNvPr id="40" name="Рисунок 3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86920" y="4590861"/>
            <a:ext cx="2194997" cy="54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900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32" grpId="0" animBg="1"/>
      <p:bldP spid="33" grpId="0" animBg="1"/>
      <p:bldP spid="34" grpId="0"/>
      <p:bldP spid="35" grpId="0"/>
      <p:bldP spid="36" grpId="0"/>
      <p:bldP spid="3" grpId="0"/>
      <p:bldP spid="29" grpId="0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/>
          <p:cNvPicPr>
            <a:picLocks noChangeAspect="1"/>
          </p:cNvPicPr>
          <p:nvPr/>
        </p:nvPicPr>
        <p:blipFill rotWithShape="1">
          <a:blip r:embed="rId2"/>
          <a:srcRect r="24699" b="2500"/>
          <a:stretch/>
        </p:blipFill>
        <p:spPr>
          <a:xfrm>
            <a:off x="0" y="1943100"/>
            <a:ext cx="1428750" cy="371475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925" y="1943100"/>
            <a:ext cx="1578037" cy="2181225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541" y="1020365"/>
            <a:ext cx="2371840" cy="1845469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6657" y="2638425"/>
            <a:ext cx="2372724" cy="216336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1244" y="1855630"/>
            <a:ext cx="2304578" cy="813763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8047" y="3067455"/>
            <a:ext cx="2127228" cy="2457729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0837" y="2484029"/>
            <a:ext cx="1173952" cy="2152245"/>
          </a:xfrm>
          <a:prstGeom prst="rect">
            <a:avLst/>
          </a:prstGeom>
        </p:spPr>
      </p:pic>
      <p:pic>
        <p:nvPicPr>
          <p:cNvPr id="28" name="Рисунок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79299" y="5887539"/>
            <a:ext cx="1404463" cy="692247"/>
          </a:xfrm>
          <a:prstGeom prst="rect">
            <a:avLst/>
          </a:prstGeom>
        </p:spPr>
      </p:pic>
      <p:sp>
        <p:nvSpPr>
          <p:cNvPr id="29" name="Блок-схема: объединение 28"/>
          <p:cNvSpPr/>
          <p:nvPr/>
        </p:nvSpPr>
        <p:spPr>
          <a:xfrm rot="16200000">
            <a:off x="1559406" y="2002550"/>
            <a:ext cx="338505" cy="229872"/>
          </a:xfrm>
          <a:prstGeom prst="flowChartMerge">
            <a:avLst/>
          </a:prstGeom>
          <a:solidFill>
            <a:schemeClr val="tx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/>
          <p:cNvSpPr txBox="1"/>
          <p:nvPr/>
        </p:nvSpPr>
        <p:spPr>
          <a:xfrm>
            <a:off x="1329922" y="1648853"/>
            <a:ext cx="7008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ambria" panose="02040503050406030204" pitchFamily="18" charset="0"/>
                <a:ea typeface="Cambria" panose="02040503050406030204" pitchFamily="18" charset="0"/>
              </a:rPr>
              <a:t>«Далее»</a:t>
            </a:r>
          </a:p>
        </p:txBody>
      </p:sp>
      <p:sp>
        <p:nvSpPr>
          <p:cNvPr id="31" name="Блок-схема: объединение 30"/>
          <p:cNvSpPr/>
          <p:nvPr/>
        </p:nvSpPr>
        <p:spPr>
          <a:xfrm rot="16200000">
            <a:off x="3316168" y="1395516"/>
            <a:ext cx="338505" cy="229872"/>
          </a:xfrm>
          <a:prstGeom prst="flowChartMerge">
            <a:avLst/>
          </a:prstGeom>
          <a:solidFill>
            <a:schemeClr val="tx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/>
          <p:cNvSpPr txBox="1"/>
          <p:nvPr/>
        </p:nvSpPr>
        <p:spPr>
          <a:xfrm>
            <a:off x="3086684" y="1041819"/>
            <a:ext cx="7008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ambria" panose="02040503050406030204" pitchFamily="18" charset="0"/>
                <a:ea typeface="Cambria" panose="02040503050406030204" pitchFamily="18" charset="0"/>
              </a:rPr>
              <a:t>«Далее»</a:t>
            </a:r>
          </a:p>
        </p:txBody>
      </p:sp>
      <p:sp>
        <p:nvSpPr>
          <p:cNvPr id="33" name="Блок-схема: объединение 32"/>
          <p:cNvSpPr/>
          <p:nvPr/>
        </p:nvSpPr>
        <p:spPr>
          <a:xfrm rot="16200000">
            <a:off x="6196720" y="1789575"/>
            <a:ext cx="338505" cy="229872"/>
          </a:xfrm>
          <a:prstGeom prst="flowChartMerge">
            <a:avLst/>
          </a:prstGeom>
          <a:solidFill>
            <a:schemeClr val="tx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/>
          <p:cNvSpPr txBox="1"/>
          <p:nvPr/>
        </p:nvSpPr>
        <p:spPr>
          <a:xfrm>
            <a:off x="5968566" y="1435878"/>
            <a:ext cx="7008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ambria" panose="02040503050406030204" pitchFamily="18" charset="0"/>
                <a:ea typeface="Cambria" panose="02040503050406030204" pitchFamily="18" charset="0"/>
              </a:rPr>
              <a:t>«Далее»</a:t>
            </a:r>
          </a:p>
        </p:txBody>
      </p:sp>
      <p:sp>
        <p:nvSpPr>
          <p:cNvPr id="35" name="Блок-схема: объединение 34"/>
          <p:cNvSpPr/>
          <p:nvPr/>
        </p:nvSpPr>
        <p:spPr>
          <a:xfrm rot="16200000">
            <a:off x="6046490" y="3077619"/>
            <a:ext cx="338505" cy="229872"/>
          </a:xfrm>
          <a:prstGeom prst="flowChartMerge">
            <a:avLst/>
          </a:prstGeom>
          <a:solidFill>
            <a:schemeClr val="tx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/>
          <p:cNvSpPr txBox="1"/>
          <p:nvPr/>
        </p:nvSpPr>
        <p:spPr>
          <a:xfrm>
            <a:off x="5817006" y="2723922"/>
            <a:ext cx="7008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ambria" panose="02040503050406030204" pitchFamily="18" charset="0"/>
                <a:ea typeface="Cambria" panose="02040503050406030204" pitchFamily="18" charset="0"/>
              </a:rPr>
              <a:t>«Далее»</a:t>
            </a:r>
          </a:p>
        </p:txBody>
      </p:sp>
      <p:sp>
        <p:nvSpPr>
          <p:cNvPr id="37" name="Блок-схема: объединение 36"/>
          <p:cNvSpPr/>
          <p:nvPr/>
        </p:nvSpPr>
        <p:spPr>
          <a:xfrm rot="16200000">
            <a:off x="8211160" y="2709797"/>
            <a:ext cx="338505" cy="229872"/>
          </a:xfrm>
          <a:prstGeom prst="flowChartMerge">
            <a:avLst/>
          </a:prstGeom>
          <a:solidFill>
            <a:schemeClr val="tx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/>
          <p:cNvSpPr txBox="1"/>
          <p:nvPr/>
        </p:nvSpPr>
        <p:spPr>
          <a:xfrm>
            <a:off x="7981676" y="2356100"/>
            <a:ext cx="7008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ambria" panose="02040503050406030204" pitchFamily="18" charset="0"/>
                <a:ea typeface="Cambria" panose="02040503050406030204" pitchFamily="18" charset="0"/>
              </a:rPr>
              <a:t>«Далее»</a:t>
            </a:r>
          </a:p>
        </p:txBody>
      </p:sp>
      <p:sp>
        <p:nvSpPr>
          <p:cNvPr id="40" name="Блок-схема: объединение 39"/>
          <p:cNvSpPr/>
          <p:nvPr/>
        </p:nvSpPr>
        <p:spPr>
          <a:xfrm rot="16200000">
            <a:off x="3733201" y="3571060"/>
            <a:ext cx="338505" cy="229872"/>
          </a:xfrm>
          <a:prstGeom prst="flowChartMerge">
            <a:avLst/>
          </a:prstGeom>
          <a:solidFill>
            <a:schemeClr val="tx1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/>
          <p:cNvSpPr txBox="1"/>
          <p:nvPr/>
        </p:nvSpPr>
        <p:spPr>
          <a:xfrm>
            <a:off x="3503717" y="3217363"/>
            <a:ext cx="7008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ambria" panose="02040503050406030204" pitchFamily="18" charset="0"/>
                <a:ea typeface="Cambria" panose="02040503050406030204" pitchFamily="18" charset="0"/>
              </a:rPr>
              <a:t>«Далее»</a:t>
            </a:r>
          </a:p>
        </p:txBody>
      </p:sp>
      <p:sp>
        <p:nvSpPr>
          <p:cNvPr id="42" name="Shape 1852"/>
          <p:cNvSpPr/>
          <p:nvPr/>
        </p:nvSpPr>
        <p:spPr>
          <a:xfrm rot="10800000">
            <a:off x="6368779" y="3843950"/>
            <a:ext cx="2884821" cy="233777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985" y="64680"/>
                </a:moveTo>
                <a:lnTo>
                  <a:pt x="4985" y="64680"/>
                </a:lnTo>
                <a:cubicBezTo>
                  <a:pt x="3682" y="49360"/>
                  <a:pt x="8826" y="34190"/>
                  <a:pt x="19179" y="22822"/>
                </a:cubicBezTo>
                <a:lnTo>
                  <a:pt x="16020" y="19255"/>
                </a:lnTo>
                <a:lnTo>
                  <a:pt x="25770" y="21357"/>
                </a:lnTo>
                <a:lnTo>
                  <a:pt x="27129" y="31797"/>
                </a:lnTo>
                <a:lnTo>
                  <a:pt x="23972" y="28233"/>
                </a:lnTo>
                <a:lnTo>
                  <a:pt x="23972" y="28233"/>
                </a:lnTo>
                <a:cubicBezTo>
                  <a:pt x="15303" y="38064"/>
                  <a:pt x="11029" y="51011"/>
                  <a:pt x="12140" y="64071"/>
                </a:cubicBezTo>
                <a:close/>
              </a:path>
            </a:pathLst>
          </a:custGeom>
          <a:solidFill>
            <a:schemeClr val="tx1"/>
          </a:solidFill>
          <a:ln w="127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lIns="91425" tIns="91425" rIns="91425" bIns="91425" anchor="ctr" anchorCtr="0">
            <a:noAutofit/>
          </a:bodyPr>
          <a:lstStyle/>
          <a:p>
            <a:pPr defTabSz="914423">
              <a:defRPr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43" name="Прямоугольник 42"/>
          <p:cNvSpPr/>
          <p:nvPr/>
        </p:nvSpPr>
        <p:spPr>
          <a:xfrm>
            <a:off x="590753" y="99408"/>
            <a:ext cx="7991932" cy="5700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Заголовок 1"/>
          <p:cNvSpPr>
            <a:spLocks noGrp="1"/>
          </p:cNvSpPr>
          <p:nvPr>
            <p:ph type="title"/>
          </p:nvPr>
        </p:nvSpPr>
        <p:spPr>
          <a:xfrm>
            <a:off x="250864" y="108527"/>
            <a:ext cx="8093035" cy="68738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600" b="0" kern="0" dirty="0" smtClean="0">
                <a:solidFill>
                  <a:srgbClr val="464646"/>
                </a:solidFill>
                <a:latin typeface="Lato"/>
                <a:ea typeface="Lato"/>
                <a:cs typeface="Lato"/>
                <a:rtl val="0"/>
              </a:rPr>
              <a:t>Предполагаемый принцип работы сервиса  для технически сложных объектов:</a:t>
            </a:r>
            <a:endParaRPr lang="ru-RU" sz="1600" b="0" kern="0" dirty="0">
              <a:solidFill>
                <a:srgbClr val="464646"/>
              </a:solidFill>
              <a:latin typeface="Lato"/>
              <a:ea typeface="Lato"/>
              <a:cs typeface="Lato"/>
              <a:rtl val="0"/>
            </a:endParaRPr>
          </a:p>
        </p:txBody>
      </p:sp>
      <p:sp>
        <p:nvSpPr>
          <p:cNvPr id="45" name="Прямоугольник 44"/>
          <p:cNvSpPr/>
          <p:nvPr/>
        </p:nvSpPr>
        <p:spPr>
          <a:xfrm>
            <a:off x="299426" y="678616"/>
            <a:ext cx="7113197" cy="45719"/>
          </a:xfrm>
          <a:prstGeom prst="rect">
            <a:avLst/>
          </a:prstGeom>
          <a:solidFill>
            <a:srgbClr val="FA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/>
            <a:endParaRPr lang="ru-RU" sz="1463" dirty="0">
              <a:solidFill>
                <a:prstClr val="white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052" name="Picture 4" descr="Отметьте и перекрестите значки. галочки. значки галочки и x. галочка  векторные иконки. знаки флажка | Премиум векторы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62579" y1="16981" x2="53774" y2="38365"/>
                        <a14:foregroundMark x1="53774" y1="38365" x2="53774" y2="38365"/>
                      </a14:backgroundRemoval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951" y="1405265"/>
            <a:ext cx="316396" cy="15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" descr="Отметьте и перекрестите значки. галочки. значки галочки и x. галочка  векторные иконки. знаки флажка | Премиум векторы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62579" y1="16981" x2="53774" y2="38365"/>
                        <a14:foregroundMark x1="53774" y1="38365" x2="53774" y2="38365"/>
                      </a14:backgroundRemoval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4495" y="1741197"/>
            <a:ext cx="316396" cy="15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" descr="Отметьте и перекрестите значки. галочки. значки галочки и x. галочка  векторные иконки. знаки флажка | Премиум векторы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62579" y1="16981" x2="53774" y2="38365"/>
                        <a14:foregroundMark x1="53774" y1="38365" x2="53774" y2="38365"/>
                      </a14:backgroundRemoval>
                    </a14:imgEffect>
                    <a14:imgEffect>
                      <a14:colorTemperature colorTemp="59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270" y="2367330"/>
            <a:ext cx="316396" cy="15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4" descr="Отметьте и перекрестите значки. галочки. значки галочки и x. галочка  векторные иконки. знаки флажка | Премиум векторы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62579" y1="16981" x2="53774" y2="38365"/>
                        <a14:foregroundMark x1="53774" y1="38365" x2="53774" y2="38365"/>
                      </a14:backgroundRemoval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7771" y="4296268"/>
            <a:ext cx="316396" cy="15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373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/>
      <p:bldP spid="31" grpId="0" animBg="1"/>
      <p:bldP spid="32" grpId="0"/>
      <p:bldP spid="33" grpId="0" animBg="1"/>
      <p:bldP spid="34" grpId="0"/>
      <p:bldP spid="35" grpId="0" animBg="1"/>
      <p:bldP spid="36" grpId="0"/>
      <p:bldP spid="37" grpId="0" animBg="1"/>
      <p:bldP spid="38" grpId="0"/>
      <p:bldP spid="40" grpId="0" animBg="1"/>
      <p:bldP spid="41" grpId="0"/>
      <p:bldP spid="4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6555" y="455614"/>
            <a:ext cx="7399700" cy="687386"/>
          </a:xfrm>
        </p:spPr>
        <p:txBody>
          <a:bodyPr/>
          <a:lstStyle/>
          <a:p>
            <a:r>
              <a:rPr lang="ru-RU" dirty="0" smtClean="0"/>
              <a:t>Что реализовано к текущему моменту: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313593" y="1113121"/>
            <a:ext cx="9592407" cy="657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Возможность выполнения календарного планирования для инженерной подготовки кустового основания с инженерной подготовкой инфраструктурных объектов;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Возможность выполнения календарного планирования </a:t>
            </a: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для промыслового трубопровода с вспомогательными сооружениями;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Возможность разработки ПСД по этапам, с выдачей комплекта документации по каждому этапу;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Вариативность сооружений;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Вариативность выбора инженерных изысканий (полевые/камеральные/без ИИ)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Учтена вариативность геологического сложения территории изысканий и возможность ее выбора (простая/средней сложности/сложная);</a:t>
            </a:r>
          </a:p>
          <a:p>
            <a:pPr marL="285750" lvl="0" indent="-285750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ru-RU" dirty="0">
                <a:solidFill>
                  <a:prstClr val="black"/>
                </a:solidFill>
              </a:rPr>
              <a:t>Учтена </a:t>
            </a:r>
            <a:r>
              <a:rPr lang="ru-RU" dirty="0" smtClean="0">
                <a:solidFill>
                  <a:prstClr val="black"/>
                </a:solidFill>
              </a:rPr>
              <a:t>вариативность территории с распространением ММГ/ без распространения </a:t>
            </a:r>
            <a:r>
              <a:rPr lang="ru-RU" dirty="0">
                <a:solidFill>
                  <a:prstClr val="black"/>
                </a:solidFill>
              </a:rPr>
              <a:t>ММГ</a:t>
            </a:r>
            <a:endParaRPr kumimoji="0" lang="ru-RU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Выбор количества полевых геологических и геодезических бригад с уточнением состава для более корректного расчета;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Учтены</a:t>
            </a:r>
            <a:r>
              <a:rPr kumimoji="0" lang="ru-RU" sz="18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ресурсы для подготовки документов к актированию и </a:t>
            </a: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даты актирования ( с учетом праздничных и выходных дней);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Учтена параллельная/последовательная разработка документации отделами в случае нескольких этапов строительства в объекте в зависимости от типа сооружения;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Учтена сезонность выполнения инженерно-экологических и историко-культурных изысканий.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078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Не реализовано, но планируется в перспективе к реализации:</a:t>
            </a:r>
            <a:endParaRPr lang="ru-RU" i="1" dirty="0"/>
          </a:p>
        </p:txBody>
      </p:sp>
      <p:sp>
        <p:nvSpPr>
          <p:cNvPr id="3" name="TextBox 2"/>
          <p:cNvSpPr txBox="1"/>
          <p:nvPr/>
        </p:nvSpPr>
        <p:spPr>
          <a:xfrm>
            <a:off x="430823" y="1336430"/>
            <a:ext cx="8546123" cy="5616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 smtClean="0"/>
              <a:t>Возможность календарного планирования для технически сложных площадных объектов;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 smtClean="0"/>
              <a:t>Возможность календарного планирования для отдельных линейных объектов;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 smtClean="0"/>
              <a:t>Включение в разные этапы одних и тех же сооружений;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 smtClean="0"/>
              <a:t>Возможность выбора благоприятного сезона (на данный момент благоприятный сезон для ИИ выбран в соответствии с благоприятным сезоном для объектов, </a:t>
            </a:r>
            <a:r>
              <a:rPr lang="ru-RU" dirty="0"/>
              <a:t>расположенных  севернее широты 72</a:t>
            </a:r>
            <a:r>
              <a:rPr lang="ru-RU" dirty="0" smtClean="0"/>
              <a:t>° Красноярского края (Таймырский </a:t>
            </a:r>
            <a:r>
              <a:rPr lang="ru-RU" dirty="0"/>
              <a:t>Долгано-Ненецкий район Красноярского </a:t>
            </a:r>
            <a:r>
              <a:rPr lang="ru-RU" dirty="0" smtClean="0"/>
              <a:t>края);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 smtClean="0"/>
              <a:t>Возможность </a:t>
            </a:r>
            <a:r>
              <a:rPr lang="ru-RU" dirty="0"/>
              <a:t>привлечения большего количества проектировщиков для срочных объектов;                                   </a:t>
            </a:r>
            <a:endParaRPr lang="ru-RU" dirty="0" smtClean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 smtClean="0"/>
              <a:t>Возможность </a:t>
            </a:r>
            <a:r>
              <a:rPr lang="ru-RU" dirty="0"/>
              <a:t>выбора разработки только РД, только ПД или только ИИ;  </a:t>
            </a:r>
            <a:endParaRPr lang="ru-RU" dirty="0" smtClean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 smtClean="0"/>
              <a:t>Возможность </a:t>
            </a:r>
            <a:r>
              <a:rPr lang="ru-RU" dirty="0"/>
              <a:t>выбора очередности выполнения и выдачи ПД и РД. </a:t>
            </a:r>
            <a:r>
              <a:rPr lang="ru-RU" dirty="0" smtClean="0"/>
              <a:t>На данный момент </a:t>
            </a:r>
            <a:r>
              <a:rPr lang="ru-RU" dirty="0"/>
              <a:t>реализована только очередность разработки и выдачи сначала РД, потом ПД, </a:t>
            </a:r>
            <a:r>
              <a:rPr lang="ru-RU" dirty="0" smtClean="0"/>
              <a:t>затем СД</a:t>
            </a:r>
            <a:r>
              <a:rPr lang="ru-RU" dirty="0"/>
              <a:t>;</a:t>
            </a:r>
            <a:endParaRPr lang="ru-RU" dirty="0" smtClean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 smtClean="0"/>
              <a:t>Возможность указания индивидуальной даты начала работ для каждого этапа строительства (для технически сложных объектов).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0407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656489" y="8027955"/>
            <a:ext cx="5392245" cy="307777"/>
          </a:xfrm>
          <a:prstGeom prst="rect">
            <a:avLst/>
          </a:prstGeom>
          <a:solidFill>
            <a:srgbClr val="3D464A"/>
          </a:solidFill>
        </p:spPr>
        <p:txBody>
          <a:bodyPr wrap="square" rtlCol="0">
            <a:spAutoFit/>
          </a:bodyPr>
          <a:lstStyle/>
          <a:p>
            <a:pPr defTabSz="742969"/>
            <a:r>
              <a:rPr lang="ru-RU" sz="14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 и сравнение календарных планов по другим объектам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3513" y="7361417"/>
            <a:ext cx="1085169" cy="7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69"/>
            <a:r>
              <a:rPr lang="ru-RU" sz="4401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ru-RU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часа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77560" y="7305111"/>
            <a:ext cx="17032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69"/>
            <a:r>
              <a:rPr lang="ru-RU" sz="5400" b="1" dirty="0">
                <a:solidFill>
                  <a:srgbClr val="FA9D1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ru-RU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минут*</a:t>
            </a:r>
          </a:p>
        </p:txBody>
      </p:sp>
      <p:sp>
        <p:nvSpPr>
          <p:cNvPr id="7" name="Стрелка вправо 6"/>
          <p:cNvSpPr/>
          <p:nvPr/>
        </p:nvSpPr>
        <p:spPr>
          <a:xfrm>
            <a:off x="6931295" y="7659184"/>
            <a:ext cx="418717" cy="250853"/>
          </a:xfrm>
          <a:prstGeom prst="rightArrow">
            <a:avLst/>
          </a:prstGeom>
          <a:noFill/>
          <a:ln>
            <a:solidFill>
              <a:srgbClr val="EAC1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69"/>
            <a:endParaRPr lang="ru-RU" sz="85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612278" y="7986126"/>
            <a:ext cx="108876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742969"/>
            <a:r>
              <a:rPr lang="ru-RU" sz="11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Стандартным</a:t>
            </a:r>
          </a:p>
          <a:p>
            <a:pPr defTabSz="742969"/>
            <a:r>
              <a:rPr lang="ru-RU" sz="11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подходом</a:t>
            </a:r>
            <a:endParaRPr lang="ru-RU" sz="8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7594883" y="8027955"/>
            <a:ext cx="30348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42969"/>
            <a:r>
              <a:rPr lang="ru-RU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 применением автоматизированного инструмента</a:t>
            </a:r>
            <a:endParaRPr lang="ru-RU" sz="8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374581-76E9-440E-B55E-5013EEF0632B}"/>
              </a:ext>
            </a:extLst>
          </p:cNvPr>
          <p:cNvSpPr txBox="1"/>
          <p:nvPr/>
        </p:nvSpPr>
        <p:spPr>
          <a:xfrm>
            <a:off x="4975955" y="7058838"/>
            <a:ext cx="330197" cy="307777"/>
          </a:xfrm>
          <a:prstGeom prst="rect">
            <a:avLst/>
          </a:prstGeom>
          <a:solidFill>
            <a:srgbClr val="F6D106"/>
          </a:solidFill>
        </p:spPr>
        <p:txBody>
          <a:bodyPr wrap="square" rtlCol="0" anchor="ctr">
            <a:spAutoFit/>
          </a:bodyPr>
          <a:lstStyle/>
          <a:p>
            <a:pPr algn="ctr" defTabSz="742969"/>
            <a:r>
              <a:rPr lang="ru-RU" sz="1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ru-RU" sz="105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0617" y="1117063"/>
            <a:ext cx="3455555" cy="307777"/>
          </a:xfrm>
          <a:prstGeom prst="rect">
            <a:avLst/>
          </a:prstGeom>
          <a:solidFill>
            <a:srgbClr val="3D464A"/>
          </a:solidFill>
        </p:spPr>
        <p:txBody>
          <a:bodyPr wrap="square" rtlCol="0">
            <a:spAutoFit/>
          </a:bodyPr>
          <a:lstStyle/>
          <a:p>
            <a:pPr defTabSz="742969"/>
            <a:r>
              <a:rPr lang="ru-RU" sz="14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Формирование календарного плана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6282" y="1591328"/>
            <a:ext cx="29680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42969"/>
            <a:r>
              <a:rPr lang="ru-RU" sz="5400" b="1" dirty="0" smtClean="0">
                <a:solidFill>
                  <a:srgbClr val="FA9D1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10-15</a:t>
            </a:r>
            <a:r>
              <a:rPr lang="ru-RU" sz="24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минут</a:t>
            </a:r>
          </a:p>
        </p:txBody>
      </p:sp>
      <p:sp>
        <p:nvSpPr>
          <p:cNvPr id="15" name="Стрелка вправо 14"/>
          <p:cNvSpPr/>
          <p:nvPr/>
        </p:nvSpPr>
        <p:spPr>
          <a:xfrm>
            <a:off x="4122381" y="2132935"/>
            <a:ext cx="418717" cy="344131"/>
          </a:xfrm>
          <a:prstGeom prst="rightArrow">
            <a:avLst/>
          </a:prstGeom>
          <a:noFill/>
          <a:ln>
            <a:solidFill>
              <a:srgbClr val="EAC1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69"/>
            <a:endParaRPr lang="ru-RU" sz="85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5090342" y="2356621"/>
            <a:ext cx="29717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42969"/>
            <a:r>
              <a:rPr lang="ru-RU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 применением автоматизированного инструмента</a:t>
            </a:r>
            <a:endParaRPr lang="ru-RU" sz="8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374581-76E9-440E-B55E-5013EEF0632B}"/>
              </a:ext>
            </a:extLst>
          </p:cNvPr>
          <p:cNvSpPr txBox="1"/>
          <p:nvPr/>
        </p:nvSpPr>
        <p:spPr>
          <a:xfrm>
            <a:off x="340420" y="1142680"/>
            <a:ext cx="330197" cy="253916"/>
          </a:xfrm>
          <a:prstGeom prst="rect">
            <a:avLst/>
          </a:prstGeom>
          <a:solidFill>
            <a:srgbClr val="F6D106"/>
          </a:solidFill>
        </p:spPr>
        <p:txBody>
          <a:bodyPr wrap="square" rtlCol="0" anchor="ctr">
            <a:spAutoFit/>
          </a:bodyPr>
          <a:lstStyle/>
          <a:p>
            <a:pPr algn="ctr" defTabSz="742969"/>
            <a:endParaRPr lang="ru-RU" sz="105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677965" y="2056539"/>
            <a:ext cx="3304231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42969"/>
            <a:r>
              <a:rPr lang="ru-RU" sz="11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В зависимости от сложности объекта</a:t>
            </a:r>
            <a:r>
              <a:rPr lang="ru-RU" sz="1100" dirty="0" smtClean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с учетом ожидания согласования специалистами различных отделов ТНИПИ.</a:t>
            </a:r>
            <a:endParaRPr lang="ru-RU" sz="8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1222" y="1380460"/>
            <a:ext cx="3549691" cy="7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69"/>
            <a:r>
              <a:rPr lang="ru-RU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 </a:t>
            </a:r>
            <a:r>
              <a:rPr lang="ru-RU" sz="4401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ru-RU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рабочих дней*</a:t>
            </a:r>
            <a:endParaRPr lang="ru-RU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547528" y="2688169"/>
            <a:ext cx="378421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42969"/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Технически сложные объекты могут занимать и более продолжительное время </a:t>
            </a:r>
            <a:r>
              <a:rPr lang="ru-RU" sz="1400" dirty="0" smtClean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(например</a:t>
            </a: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ru-RU" sz="1400" dirty="0" smtClean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«База </a:t>
            </a:r>
            <a:r>
              <a:rPr lang="ru-RU" sz="1400" dirty="0" err="1" smtClean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Таналау</a:t>
            </a:r>
            <a:r>
              <a:rPr lang="ru-RU" sz="1400" dirty="0" smtClean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», состоящая из </a:t>
            </a: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перечня </a:t>
            </a:r>
            <a:r>
              <a:rPr lang="ru-RU" sz="1400" dirty="0" smtClean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комплексных </a:t>
            </a:r>
            <a:r>
              <a:rPr lang="ru-RU" sz="14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объектов</a:t>
            </a:r>
            <a:r>
              <a:rPr lang="ru-RU" sz="1400" dirty="0" smtClean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ru-RU" sz="9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4518482" y="3424470"/>
            <a:ext cx="4575537" cy="261610"/>
          </a:xfrm>
          <a:prstGeom prst="rect">
            <a:avLst/>
          </a:prstGeom>
          <a:solidFill>
            <a:srgbClr val="F6D106"/>
          </a:solidFill>
        </p:spPr>
        <p:txBody>
          <a:bodyPr wrap="square" anchor="ctr">
            <a:spAutoFit/>
          </a:bodyPr>
          <a:lstStyle/>
          <a:p>
            <a:pPr algn="ctr" defTabSz="742969"/>
            <a:r>
              <a:rPr lang="ru-RU" sz="11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 внедрении автоматизированного инструмента</a:t>
            </a:r>
          </a:p>
        </p:txBody>
      </p:sp>
      <p:cxnSp>
        <p:nvCxnSpPr>
          <p:cNvPr id="24" name="Прямая со стрелкой 23"/>
          <p:cNvCxnSpPr>
            <a:cxnSpLocks/>
          </p:cNvCxnSpPr>
          <p:nvPr/>
        </p:nvCxnSpPr>
        <p:spPr>
          <a:xfrm>
            <a:off x="6563638" y="2946809"/>
            <a:ext cx="0" cy="327050"/>
          </a:xfrm>
          <a:prstGeom prst="straightConnector1">
            <a:avLst/>
          </a:prstGeom>
          <a:ln w="38100">
            <a:solidFill>
              <a:srgbClr val="FA9D1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74433" y="5876686"/>
            <a:ext cx="9203043" cy="80021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742969"/>
            <a:r>
              <a:rPr lang="ru-RU" b="1" dirty="0" smtClean="0">
                <a:solidFill>
                  <a:srgbClr val="3D46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 применении </a:t>
            </a:r>
            <a:r>
              <a:rPr lang="ru-RU" b="1" dirty="0">
                <a:solidFill>
                  <a:srgbClr val="3D46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автоматизированного инструмента </a:t>
            </a:r>
            <a:r>
              <a:rPr lang="ru-RU" b="1" dirty="0" smtClean="0">
                <a:solidFill>
                  <a:srgbClr val="3D46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планируется снижение трудозатрат до </a:t>
            </a:r>
            <a:r>
              <a:rPr lang="ru-RU" sz="2800" b="1" dirty="0" smtClean="0">
                <a:solidFill>
                  <a:srgbClr val="FA9D1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98%</a:t>
            </a:r>
            <a:r>
              <a:rPr lang="ru-RU" b="1" dirty="0" smtClean="0">
                <a:solidFill>
                  <a:srgbClr val="3D46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dirty="0">
                <a:solidFill>
                  <a:srgbClr val="3D46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выполнение одного календарного планирования</a:t>
            </a:r>
            <a:endParaRPr lang="ru-RU" sz="1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Стрелка вправо 25"/>
          <p:cNvSpPr/>
          <p:nvPr/>
        </p:nvSpPr>
        <p:spPr>
          <a:xfrm rot="5400000">
            <a:off x="6318220" y="7050706"/>
            <a:ext cx="172286" cy="152289"/>
          </a:xfrm>
          <a:prstGeom prst="rightArrow">
            <a:avLst/>
          </a:prstGeom>
          <a:noFill/>
          <a:ln>
            <a:solidFill>
              <a:srgbClr val="FA9D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69"/>
            <a:endParaRPr lang="ru-RU" sz="85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45626" y="7176751"/>
            <a:ext cx="61587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defTabSz="742969"/>
            <a:r>
              <a:rPr lang="ru-RU" b="1" dirty="0">
                <a:solidFill>
                  <a:srgbClr val="FA9D1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или</a:t>
            </a:r>
            <a:endParaRPr lang="ru-RU" sz="1000" dirty="0">
              <a:solidFill>
                <a:srgbClr val="FA9D1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534304" y="7074079"/>
            <a:ext cx="1720343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defTabSz="742969"/>
            <a:r>
              <a:rPr lang="ru-RU" sz="3200" b="1" dirty="0">
                <a:solidFill>
                  <a:srgbClr val="3D46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 1600</a:t>
            </a:r>
            <a:endParaRPr lang="ru-RU" sz="1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11BEF5A-00D6-4170-B825-748205750713}"/>
              </a:ext>
            </a:extLst>
          </p:cNvPr>
          <p:cNvSpPr/>
          <p:nvPr/>
        </p:nvSpPr>
        <p:spPr>
          <a:xfrm>
            <a:off x="5889204" y="7430375"/>
            <a:ext cx="54053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742969"/>
            <a:r>
              <a:rPr lang="ru-RU" sz="11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ч/год</a:t>
            </a:r>
          </a:p>
        </p:txBody>
      </p:sp>
      <p:sp>
        <p:nvSpPr>
          <p:cNvPr id="33" name="Прямоугольник 32"/>
          <p:cNvSpPr/>
          <p:nvPr/>
        </p:nvSpPr>
        <p:spPr>
          <a:xfrm>
            <a:off x="4289729" y="3768639"/>
            <a:ext cx="5173607" cy="830997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tabLst>
                <a:tab pos="776087" algn="l"/>
              </a:tabLst>
            </a:pPr>
            <a:r>
              <a:rPr lang="ru-RU" sz="2800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от </a:t>
            </a:r>
            <a:r>
              <a:rPr lang="ru-RU" sz="4800" b="1" dirty="0" smtClean="0">
                <a:solidFill>
                  <a:srgbClr val="FA9D1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 </a:t>
            </a:r>
            <a:r>
              <a:rPr lang="ru-RU" sz="2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до</a:t>
            </a:r>
            <a:r>
              <a:rPr lang="ru-RU" sz="4800" b="1" dirty="0" smtClean="0">
                <a:solidFill>
                  <a:srgbClr val="FA9D1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20</a:t>
            </a:r>
            <a:r>
              <a:rPr lang="ru-RU" sz="2800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чел/</a:t>
            </a:r>
            <a:r>
              <a:rPr lang="ru-RU" sz="2400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часов</a:t>
            </a:r>
            <a:endParaRPr lang="ru-RU" sz="24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4" name="Прямоугольник 33"/>
          <p:cNvSpPr/>
          <p:nvPr/>
        </p:nvSpPr>
        <p:spPr>
          <a:xfrm>
            <a:off x="4675632" y="4668594"/>
            <a:ext cx="43846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  <a:tabLst>
                <a:tab pos="776087" algn="l"/>
              </a:tabLst>
            </a:pPr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Потенциальное сокращение времени на календарное планирование для одного проекта ПИР</a:t>
            </a:r>
          </a:p>
        </p:txBody>
      </p:sp>
      <p:cxnSp>
        <p:nvCxnSpPr>
          <p:cNvPr id="40" name="Прямая соединительная линия 39"/>
          <p:cNvCxnSpPr/>
          <p:nvPr/>
        </p:nvCxnSpPr>
        <p:spPr>
          <a:xfrm>
            <a:off x="4887095" y="4599636"/>
            <a:ext cx="3950919" cy="0"/>
          </a:xfrm>
          <a:prstGeom prst="line">
            <a:avLst/>
          </a:prstGeom>
          <a:ln w="19050">
            <a:solidFill>
              <a:srgbClr val="EAC169"/>
            </a:solidFill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 1"/>
          <p:cNvSpPr/>
          <p:nvPr/>
        </p:nvSpPr>
        <p:spPr>
          <a:xfrm>
            <a:off x="590753" y="99408"/>
            <a:ext cx="7991932" cy="5700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128083" y="357483"/>
            <a:ext cx="8420100" cy="6358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defTabSz="914423">
              <a:lnSpc>
                <a:spcPct val="100000"/>
              </a:lnSpc>
              <a:spcBef>
                <a:spcPts val="0"/>
              </a:spcBef>
              <a:buNone/>
              <a:defRPr sz="2800" b="0" kern="0">
                <a:solidFill>
                  <a:srgbClr val="464646"/>
                </a:solidFill>
                <a:latin typeface="Lato"/>
                <a:ea typeface="Lato"/>
                <a:cs typeface="Lato"/>
                <a:rtl val="0"/>
              </a:defRPr>
            </a:lvl1pPr>
          </a:lstStyle>
          <a:p>
            <a:r>
              <a:rPr lang="ru-RU" sz="2000" dirty="0"/>
              <a:t>Технологический эффект и экономическая эффективность проекта</a:t>
            </a:r>
          </a:p>
        </p:txBody>
      </p:sp>
      <p:sp>
        <p:nvSpPr>
          <p:cNvPr id="31" name="Прямоугольник 30"/>
          <p:cNvSpPr/>
          <p:nvPr/>
        </p:nvSpPr>
        <p:spPr>
          <a:xfrm flipV="1">
            <a:off x="340420" y="839926"/>
            <a:ext cx="7473660" cy="45719"/>
          </a:xfrm>
          <a:prstGeom prst="rect">
            <a:avLst/>
          </a:prstGeom>
          <a:solidFill>
            <a:srgbClr val="FA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/>
            <a:endParaRPr lang="ru-RU" sz="1463" dirty="0">
              <a:solidFill>
                <a:prstClr val="white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5182728" y="1692736"/>
            <a:ext cx="54373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rgbClr val="FA9D1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383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6" grpId="0"/>
      <p:bldP spid="20" grpId="0"/>
      <p:bldP spid="21" grpId="0"/>
      <p:bldP spid="22" grpId="0"/>
      <p:bldP spid="23" grpId="0" animBg="1"/>
      <p:bldP spid="25" grpId="0"/>
      <p:bldP spid="33" grpId="0"/>
      <p:bldP spid="34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461ED3A-BBF0-A865-49A7-02BA15DC2142}"/>
              </a:ext>
            </a:extLst>
          </p:cNvPr>
          <p:cNvSpPr/>
          <p:nvPr/>
        </p:nvSpPr>
        <p:spPr>
          <a:xfrm>
            <a:off x="0" y="1346744"/>
            <a:ext cx="9906000" cy="5572125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18000">
                <a:schemeClr val="bg1">
                  <a:shade val="67500"/>
                  <a:satMod val="115000"/>
                </a:schemeClr>
              </a:gs>
              <a:gs pos="38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/>
            <a:endParaRPr lang="ru-RU" sz="1463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5" name="Рисунок 14" descr="Изображение выглядит как текст, транспорт, самолет&#10;&#10;Автоматически созданное описание">
            <a:extLst>
              <a:ext uri="{FF2B5EF4-FFF2-40B4-BE49-F238E27FC236}">
                <a16:creationId xmlns:a16="http://schemas.microsoft.com/office/drawing/2014/main" id="{11B0D279-CE50-728A-38AA-FA46462127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" t="70" r="31" b="5"/>
          <a:stretch/>
        </p:blipFill>
        <p:spPr>
          <a:xfrm>
            <a:off x="2057301" y="2231576"/>
            <a:ext cx="7848699" cy="46872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2117" y="3253898"/>
            <a:ext cx="5030224" cy="339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eaLnBrk="0" hangingPunct="0">
              <a:lnSpc>
                <a:spcPts val="1625"/>
              </a:lnSpc>
              <a:defRPr/>
            </a:pPr>
            <a:r>
              <a:rPr lang="ru-RU" sz="3200" b="1" dirty="0">
                <a:solidFill>
                  <a:prstClr val="black"/>
                </a:solidFill>
                <a:latin typeface="Lato"/>
                <a:ea typeface="Tahoma" panose="020B0604030504040204" pitchFamily="34" charset="0"/>
                <a:cs typeface="Tahoma" panose="020B0604030504040204" pitchFamily="34" charset="0"/>
              </a:rPr>
              <a:t>Спасибо за внимание!</a:t>
            </a:r>
            <a:endParaRPr lang="ru-RU" sz="3200" b="1" dirty="0">
              <a:solidFill>
                <a:srgbClr val="221E20"/>
              </a:solidFill>
              <a:latin typeface="Lato"/>
              <a:ea typeface="Segoe UI Black" panose="020B0A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B8D4375-7B70-5914-BF33-7026B22D68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985" y="766075"/>
            <a:ext cx="3224867" cy="136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552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1e142fde4336d74b3e9f490f6f696adf35cca36"/>
</p:tagLst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Rosneft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Rosneft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ipiSsCategory xmlns="http://schemas.microsoft.com/sharepoint/v3">Разное</NipiSsCategory>
    <_dlc_DocId xmlns="6842c012-7850-4dc4-8cb7-0f9ef0d1a1e2">NIPI-820910082-189</_dlc_DocId>
    <_dlc_DocIdUrl xmlns="6842c012-7850-4dc4-8cb7-0f9ef0d1a1e2">
      <Url>http://nipi-spsite/sites/commonservice/us/_layouts/15/DocIdRedir.aspx?ID=NIPI-820910082-189</Url>
      <Description>NIPI-820910082-189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Общие документы" ma:contentTypeID="0x010100F6AA023DC9A54F04B6F2AECCE21B8C49001A23B9A0F7DA794CBE048D9295BE9A02" ma:contentTypeVersion="0" ma:contentTypeDescription="Общие документы" ma:contentTypeScope="" ma:versionID="566eea878d0464d3d2f8c0e1726289a7">
  <xsd:schema xmlns:xsd="http://www.w3.org/2001/XMLSchema" xmlns:xs="http://www.w3.org/2001/XMLSchema" xmlns:p="http://schemas.microsoft.com/office/2006/metadata/properties" xmlns:ns1="http://schemas.microsoft.com/sharepoint/v3" xmlns:ns2="6842c012-7850-4dc4-8cb7-0f9ef0d1a1e2" targetNamespace="http://schemas.microsoft.com/office/2006/metadata/properties" ma:root="true" ma:fieldsID="ffd1dab18386503f99a5fa512927a247" ns1:_="" ns2:_="">
    <xsd:import namespace="http://schemas.microsoft.com/sharepoint/v3"/>
    <xsd:import namespace="6842c012-7850-4dc4-8cb7-0f9ef0d1a1e2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NipiSsCatego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NipiSsCategory" ma:index="11" nillable="true" ma:displayName="Категория" ma:description="Категория" ma:internalName="NipiSsCategor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42c012-7850-4dc4-8cb7-0f9ef0d1a1e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Значение идентификатора документа" ma:description="Значение идентификатора документа, присвоенного данному элементу." ma:internalName="_dlc_DocId" ma:readOnly="true">
      <xsd:simpleType>
        <xsd:restriction base="dms:Text"/>
      </xsd:simpleType>
    </xsd:element>
    <xsd:element name="_dlc_DocIdUrl" ma:index="9" nillable="true" ma:displayName="Идентификатор документа" ma:description="Постоянная ссылка на этот документ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B9561EC9-85E4-444E-9649-DC68D53828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FADD89-6598-46C7-8D28-4CE1299CAF87}">
  <ds:schemaRefs>
    <ds:schemaRef ds:uri="http://purl.org/dc/elements/1.1/"/>
    <ds:schemaRef ds:uri="http://schemas.microsoft.com/office/2006/metadata/properties"/>
    <ds:schemaRef ds:uri="6842c012-7850-4dc4-8cb7-0f9ef0d1a1e2"/>
    <ds:schemaRef ds:uri="http://schemas.microsoft.com/sharepoint/v3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4430455-DA5B-4729-99CE-0F6CF92724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842c012-7850-4dc4-8cb7-0f9ef0d1a1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7ADC5E41-363F-4ACD-ABDA-91862F139E43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15746</TotalTime>
  <Words>1242</Words>
  <Application>Microsoft Office PowerPoint</Application>
  <PresentationFormat>Лист A4 (210x297 мм)</PresentationFormat>
  <Paragraphs>134</Paragraphs>
  <Slides>12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12</vt:i4>
      </vt:variant>
    </vt:vector>
  </HeadingPairs>
  <TitlesOfParts>
    <vt:vector size="25" baseType="lpstr">
      <vt:lpstr>Arial</vt:lpstr>
      <vt:lpstr>Calibri</vt:lpstr>
      <vt:lpstr>Calibri Light</vt:lpstr>
      <vt:lpstr>Cambria</vt:lpstr>
      <vt:lpstr>Lato</vt:lpstr>
      <vt:lpstr>Segoe UI</vt:lpstr>
      <vt:lpstr>Segoe UI Black</vt:lpstr>
      <vt:lpstr>Segoe UI Semibold</vt:lpstr>
      <vt:lpstr>Tahoma</vt:lpstr>
      <vt:lpstr>Wingdings</vt:lpstr>
      <vt:lpstr>Тема Office</vt:lpstr>
      <vt:lpstr>1_Rosneft</vt:lpstr>
      <vt:lpstr>Rosneft</vt:lpstr>
      <vt:lpstr>Презентация PowerPoint</vt:lpstr>
      <vt:lpstr>Актуальность</vt:lpstr>
      <vt:lpstr>Презентация PowerPoint</vt:lpstr>
      <vt:lpstr>Для разработки программного модуля необходимо было подготовить базу данных с ресурсами для проектирования каждого здания и сооружения </vt:lpstr>
      <vt:lpstr>Расчет ресурсов для разработки документации</vt:lpstr>
      <vt:lpstr>Расчет ресурсов для разработки документации</vt:lpstr>
      <vt:lpstr>Принцип работы сервиса календарного планирования:</vt:lpstr>
      <vt:lpstr>Предполагаемый принцип работы сервиса  для технически сложных объектов:</vt:lpstr>
      <vt:lpstr>Что реализовано к текущему моменту:</vt:lpstr>
      <vt:lpstr>Не реализовано, но планируется в перспективе к реализации:</vt:lpstr>
      <vt:lpstr>Презентация PowerPoint</vt:lpstr>
      <vt:lpstr>Презентация PowerPoint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 презентации А4 KNPK_октябрь 2019 4 варианта</dc:title>
  <dc:creator>RePack by Diakov</dc:creator>
  <cp:lastModifiedBy>Мурзагалеев Тагир Муратович</cp:lastModifiedBy>
  <cp:revision>470</cp:revision>
  <dcterms:created xsi:type="dcterms:W3CDTF">2019-04-16T08:07:00Z</dcterms:created>
  <dcterms:modified xsi:type="dcterms:W3CDTF">2024-08-20T07:19:40Z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0x010100F6AA023DC9A54F04B6F2AECCE21B8C49001A23B9A0F7DA794CBE048D9295BE9A02</vt:lpwstr>
  </property>
  <property fmtid="{D5CDD505-2E9C-101B-9397-08002B2CF9AE}" pid="3" name="_dlc_DocIdItemGuid">
    <vt:lpwstr>43836799-1a8a-4f4c-8510-086749775ff6</vt:lpwstr>
  </property>
</Properties>
</file>